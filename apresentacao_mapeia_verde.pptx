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73617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565355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052708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875659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490586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991629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674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0355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83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DF537-10B3-95CF-9914-89DD84D550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794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0509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54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B0D44A-F051-5E94-91E9-0C34455F2B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6591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088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20201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A4C53C-9EB2-5E32-4E19-F1683F65CF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141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6855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3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BCBFB0-BA9A-2D3E-3D45-9774EF6064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859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5663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20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FCC17C-7E2D-284D-EFF0-34D2BA0BA7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80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5306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074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38C025-DEB4-8549-83F2-1DDE7DA065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591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970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402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462C9D-2342-E6A7-7209-61978D0262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811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207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689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F8D511-0A97-C51C-C646-54F3AA972E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45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631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569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DFBB73-8323-28EE-D402-751B9965F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863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6615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075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E0E09-FBDD-B565-1871-2F57594B7B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7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3662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091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80C5E4-6198-41AB-236C-66CA95D5E2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58134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49623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654266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01469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10610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3955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20482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08782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885303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7231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18330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89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38280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552565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16996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5207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000823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51665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13891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77751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85564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9133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95555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34581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535292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61743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8818710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4795177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661722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3559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813657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7067571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47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494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4258401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202403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79755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945895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81953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26666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556839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55699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58398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589713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9272024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48503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039692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51543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6906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53573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02001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43275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40066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3246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980628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96461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76283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37147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00691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88503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39429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6032969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161341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937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081642" name="Oval 1"/>
          <p:cNvSpPr/>
          <p:nvPr/>
        </p:nvSpPr>
        <p:spPr bwMode="auto">
          <a:xfrm>
            <a:off x="8412480" y="731520"/>
            <a:ext cx="3291840" cy="3291840"/>
          </a:xfrm>
          <a:prstGeom prst="ellipse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6235687" name="Oval 2"/>
          <p:cNvSpPr/>
          <p:nvPr/>
        </p:nvSpPr>
        <p:spPr bwMode="auto">
          <a:xfrm>
            <a:off x="9784079" y="2011680"/>
            <a:ext cx="1828800" cy="1828800"/>
          </a:xfrm>
          <a:prstGeom prst="ellipse">
            <a:avLst/>
          </a:prstGeom>
          <a:solidFill>
            <a:srgbClr val="B7D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4279746" name="Oval 3"/>
          <p:cNvSpPr/>
          <p:nvPr/>
        </p:nvSpPr>
        <p:spPr bwMode="auto">
          <a:xfrm>
            <a:off x="7589520" y="3383280"/>
            <a:ext cx="2377440" cy="2377440"/>
          </a:xfrm>
          <a:prstGeom prst="ellipse">
            <a:avLst/>
          </a:prstGeom>
          <a:solidFill>
            <a:srgbClr val="49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9447390" name="Oval 4"/>
          <p:cNvSpPr/>
          <p:nvPr/>
        </p:nvSpPr>
        <p:spPr bwMode="auto">
          <a:xfrm rot="2100000">
            <a:off x="9509760" y="1097280"/>
            <a:ext cx="777240" cy="1787651"/>
          </a:xfrm>
          <a:prstGeom prst="ellipse">
            <a:avLst/>
          </a:prstGeom>
          <a:solidFill>
            <a:srgbClr val="F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242217884" name="Connector 5"/>
          <p:cNvCxnSpPr/>
          <p:nvPr/>
        </p:nvCxnSpPr>
        <p:spPr bwMode="auto">
          <a:xfrm flipV="1">
            <a:off x="9696297" y="1377086"/>
            <a:ext cx="544068" cy="1041501"/>
          </a:xfrm>
          <a:prstGeom prst="line">
            <a:avLst/>
          </a:prstGeom>
          <a:ln w="15240">
            <a:solidFill>
              <a:srgbClr val="193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180775" name="TextBox 6"/>
          <p:cNvSpPr txBox="1"/>
          <p:nvPr/>
        </p:nvSpPr>
        <p:spPr bwMode="auto">
          <a:xfrm>
            <a:off x="777240" y="777240"/>
            <a:ext cx="6218280" cy="259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100" b="1" i="0">
                <a:solidFill>
                  <a:srgbClr val="B7D384"/>
                </a:solidFill>
                <a:latin typeface="Aptos"/>
              </a:rPr>
              <a:t>APRESENTAÇÃO INSTITUCIONAL</a:t>
            </a:r>
            <a:endParaRPr lang="pt-BR"/>
          </a:p>
        </p:txBody>
      </p:sp>
      <p:sp>
        <p:nvSpPr>
          <p:cNvPr id="1212864734" name="TextBox 7"/>
          <p:cNvSpPr txBox="1"/>
          <p:nvPr/>
        </p:nvSpPr>
        <p:spPr bwMode="auto">
          <a:xfrm>
            <a:off x="731520" y="1417319"/>
            <a:ext cx="6858360" cy="731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4200" b="1" i="0">
                <a:solidFill>
                  <a:srgbClr val="FFFFFF"/>
                </a:solidFill>
                <a:latin typeface="Aptos"/>
              </a:rPr>
              <a:t>Mapeia Verde</a:t>
            </a:r>
            <a:endParaRPr lang="pt-BR"/>
          </a:p>
        </p:txBody>
      </p:sp>
      <p:sp>
        <p:nvSpPr>
          <p:cNvPr id="291193073" name="TextBox 8"/>
          <p:cNvSpPr txBox="1"/>
          <p:nvPr/>
        </p:nvSpPr>
        <p:spPr bwMode="auto">
          <a:xfrm>
            <a:off x="777240" y="2743200"/>
            <a:ext cx="6492600" cy="792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2300" b="0" i="0">
                <a:solidFill>
                  <a:srgbClr val="DEEBDA"/>
                </a:solidFill>
                <a:latin typeface="Aptos"/>
              </a:rPr>
              <a:t>Dados que revelam sombras,</a:t>
            </a:r>
            <a:br>
              <a:rPr lang="pt-BR" sz="2300" b="0" i="0">
                <a:solidFill>
                  <a:srgbClr val="DEEBDA"/>
                </a:solidFill>
                <a:latin typeface="Aptos"/>
              </a:rPr>
            </a:br>
            <a:r>
              <a:rPr lang="pt-BR" sz="2300" b="0" i="0">
                <a:solidFill>
                  <a:srgbClr val="DEEBDA"/>
                </a:solidFill>
                <a:latin typeface="Aptos"/>
              </a:rPr>
              <a:t>reduzem calor e fortalecem cidades mais vivas.</a:t>
            </a:r>
            <a:endParaRPr lang="pt-BR"/>
          </a:p>
        </p:txBody>
      </p:sp>
      <p:sp>
        <p:nvSpPr>
          <p:cNvPr id="688968644" name="TextBox 9"/>
          <p:cNvSpPr txBox="1"/>
          <p:nvPr/>
        </p:nvSpPr>
        <p:spPr bwMode="auto">
          <a:xfrm>
            <a:off x="804672" y="5074920"/>
            <a:ext cx="5029559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1" i="0">
                <a:solidFill>
                  <a:srgbClr val="B7D384"/>
                </a:solidFill>
                <a:latin typeface="Aptos"/>
              </a:rPr>
              <a:t>Mapeamento e monitoramento de árvores urbanas</a:t>
            </a:r>
            <a:endParaRPr lang="pt-BR"/>
          </a:p>
        </p:txBody>
      </p:sp>
      <p:sp>
        <p:nvSpPr>
          <p:cNvPr id="975218742" name="TextBox 10"/>
          <p:cNvSpPr txBox="1"/>
          <p:nvPr/>
        </p:nvSpPr>
        <p:spPr bwMode="auto">
          <a:xfrm>
            <a:off x="804672" y="5623560"/>
            <a:ext cx="5041798" cy="2746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200" b="0" i="0">
                <a:solidFill>
                  <a:srgbClr val="D7E5D7"/>
                </a:solidFill>
                <a:latin typeface="Aptos"/>
              </a:rPr>
              <a:t>Rio de Janeiro e região metropolitana</a:t>
            </a:r>
            <a:endParaRPr lang="pt-BR" sz="1200" b="0" i="0">
              <a:solidFill>
                <a:srgbClr val="D7E5D7"/>
              </a:solidFill>
              <a:latin typeface="Aptos"/>
            </a:endParaRPr>
          </a:p>
        </p:txBody>
      </p:sp>
      <p:sp>
        <p:nvSpPr>
          <p:cNvPr id="166873609" name="TextBox 11"/>
          <p:cNvSpPr txBox="1"/>
          <p:nvPr/>
        </p:nvSpPr>
        <p:spPr bwMode="auto">
          <a:xfrm>
            <a:off x="502920" y="6510528"/>
            <a:ext cx="7315559" cy="22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900" b="1" i="0">
                <a:solidFill>
                  <a:srgbClr val="D7E5D7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714070852" name="TextBox 12"/>
          <p:cNvSpPr txBox="1"/>
          <p:nvPr/>
        </p:nvSpPr>
        <p:spPr bwMode="auto"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sz="1000" b="1" i="0">
                <a:solidFill>
                  <a:srgbClr val="D7E5D7"/>
                </a:solidFill>
                <a:latin typeface="Aptos"/>
              </a:rPr>
              <a:t>01</a:t>
            </a:r>
            <a:endParaRPr/>
          </a:p>
        </p:txBody>
      </p:sp>
      <p:sp>
        <p:nvSpPr>
          <p:cNvPr id="1533064377" name="TextBox 10"/>
          <p:cNvSpPr txBox="1"/>
          <p:nvPr/>
        </p:nvSpPr>
        <p:spPr bwMode="auto">
          <a:xfrm>
            <a:off x="777240" y="6067513"/>
            <a:ext cx="5068797" cy="2746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200" b="0" i="0">
                <a:solidFill>
                  <a:srgbClr val="D7E5D7"/>
                </a:solidFill>
                <a:latin typeface="Aptos"/>
              </a:rPr>
              <a:t>Idealizado por: Douglas C. de Carvalho</a:t>
            </a:r>
            <a:endParaRPr lang="pt-BR" sz="1200" b="0" i="0">
              <a:solidFill>
                <a:srgbClr val="D7E5D7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716271" name="TextBox 1"/>
          <p:cNvSpPr txBox="1"/>
          <p:nvPr/>
        </p:nvSpPr>
        <p:spPr bwMode="auto">
          <a:xfrm>
            <a:off x="640080" y="438912"/>
            <a:ext cx="1079028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000" b="1" i="0">
                <a:solidFill>
                  <a:srgbClr val="36704E"/>
                </a:solidFill>
                <a:latin typeface="Aptos"/>
              </a:rPr>
              <a:t>01 • QUEM SOMOS</a:t>
            </a:r>
            <a:endParaRPr lang="pt-BR"/>
          </a:p>
        </p:txBody>
      </p:sp>
      <p:sp>
        <p:nvSpPr>
          <p:cNvPr id="266863554" name="TextBox 2"/>
          <p:cNvSpPr txBox="1"/>
          <p:nvPr/>
        </p:nvSpPr>
        <p:spPr bwMode="auto">
          <a:xfrm>
            <a:off x="640080" y="822960"/>
            <a:ext cx="10973160" cy="548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Informação ambiental para decisões melhores</a:t>
            </a:r>
            <a:endParaRPr lang="pt-BR"/>
          </a:p>
        </p:txBody>
      </p:sp>
      <p:sp>
        <p:nvSpPr>
          <p:cNvPr id="42772184" name="TextBox 3"/>
          <p:cNvSpPr txBox="1"/>
          <p:nvPr/>
        </p:nvSpPr>
        <p:spPr bwMode="auto">
          <a:xfrm>
            <a:off x="658368" y="1536192"/>
            <a:ext cx="10790280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69776D"/>
                </a:solidFill>
                <a:latin typeface="Aptos"/>
              </a:rPr>
              <a:t>Uma empresa de mapeamento urbano que transforma dados sobre árvores em inteligência prática.</a:t>
            </a:r>
            <a:endParaRPr lang="pt-BR"/>
          </a:p>
        </p:txBody>
      </p:sp>
      <p:sp>
        <p:nvSpPr>
          <p:cNvPr id="1867441282" name="Rounded Rectangle 4"/>
          <p:cNvSpPr/>
          <p:nvPr/>
        </p:nvSpPr>
        <p:spPr bwMode="auto">
          <a:xfrm>
            <a:off x="640080" y="2331720"/>
            <a:ext cx="352044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86134611" name="Rectangle 5"/>
          <p:cNvSpPr/>
          <p:nvPr/>
        </p:nvSpPr>
        <p:spPr bwMode="auto">
          <a:xfrm>
            <a:off x="640080" y="2468879"/>
            <a:ext cx="64008" cy="201168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639999064" name="TextBox 6"/>
          <p:cNvSpPr txBox="1"/>
          <p:nvPr/>
        </p:nvSpPr>
        <p:spPr bwMode="auto">
          <a:xfrm>
            <a:off x="841246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Nossa atuação</a:t>
            </a:r>
            <a:endParaRPr lang="pt-BR"/>
          </a:p>
        </p:txBody>
      </p:sp>
      <p:sp>
        <p:nvSpPr>
          <p:cNvPr id="327897532" name="TextBox 7"/>
          <p:cNvSpPr txBox="1"/>
          <p:nvPr/>
        </p:nvSpPr>
        <p:spPr bwMode="auto">
          <a:xfrm>
            <a:off x="841246" y="3017519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Mapeamento preciso de árvores em áreas urbanas, com foco no Rio de Janeiro e região metropolitana.</a:t>
            </a:r>
            <a:endParaRPr lang="pt-BR"/>
          </a:p>
        </p:txBody>
      </p:sp>
      <p:sp>
        <p:nvSpPr>
          <p:cNvPr id="1493232464" name="Rounded Rectangle 8"/>
          <p:cNvSpPr/>
          <p:nvPr/>
        </p:nvSpPr>
        <p:spPr bwMode="auto">
          <a:xfrm>
            <a:off x="4343400" y="2331720"/>
            <a:ext cx="352044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54335702" name="Rectangle 9"/>
          <p:cNvSpPr/>
          <p:nvPr/>
        </p:nvSpPr>
        <p:spPr bwMode="auto">
          <a:xfrm>
            <a:off x="4343400" y="2468879"/>
            <a:ext cx="64008" cy="201168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88915774" name="TextBox 10"/>
          <p:cNvSpPr txBox="1"/>
          <p:nvPr/>
        </p:nvSpPr>
        <p:spPr bwMode="auto">
          <a:xfrm>
            <a:off x="4544568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Nossa abordagem</a:t>
            </a:r>
            <a:endParaRPr lang="pt-BR"/>
          </a:p>
        </p:txBody>
      </p:sp>
      <p:sp>
        <p:nvSpPr>
          <p:cNvPr id="167071847" name="TextBox 11"/>
          <p:cNvSpPr txBox="1"/>
          <p:nvPr/>
        </p:nvSpPr>
        <p:spPr bwMode="auto">
          <a:xfrm>
            <a:off x="4544568" y="3017519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Levantamentos de campo, vistorias técnicas, monitoramento e análise georreferenciada.</a:t>
            </a:r>
            <a:endParaRPr lang="pt-BR"/>
          </a:p>
        </p:txBody>
      </p:sp>
      <p:sp>
        <p:nvSpPr>
          <p:cNvPr id="1455798181" name="Rounded Rectangle 12"/>
          <p:cNvSpPr/>
          <p:nvPr/>
        </p:nvSpPr>
        <p:spPr bwMode="auto">
          <a:xfrm>
            <a:off x="8046720" y="2331720"/>
            <a:ext cx="352044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15293500" name="Rectangle 13"/>
          <p:cNvSpPr/>
          <p:nvPr/>
        </p:nvSpPr>
        <p:spPr bwMode="auto">
          <a:xfrm>
            <a:off x="8046720" y="2468879"/>
            <a:ext cx="64008" cy="201168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99065363" name="TextBox 14"/>
          <p:cNvSpPr txBox="1"/>
          <p:nvPr/>
        </p:nvSpPr>
        <p:spPr bwMode="auto">
          <a:xfrm>
            <a:off x="8247888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Nosso resultado</a:t>
            </a:r>
            <a:endParaRPr lang="pt-BR"/>
          </a:p>
        </p:txBody>
      </p:sp>
      <p:sp>
        <p:nvSpPr>
          <p:cNvPr id="1402401324" name="TextBox 15"/>
          <p:cNvSpPr txBox="1"/>
          <p:nvPr/>
        </p:nvSpPr>
        <p:spPr bwMode="auto">
          <a:xfrm>
            <a:off x="8247888" y="3017519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Mapas e relatórios claros, atualizados e úteis para orientar decisões sobre a arborização.</a:t>
            </a:r>
            <a:endParaRPr lang="pt-BR"/>
          </a:p>
        </p:txBody>
      </p:sp>
      <p:sp>
        <p:nvSpPr>
          <p:cNvPr id="1752756225" name="TextBox 16"/>
          <p:cNvSpPr txBox="1"/>
          <p:nvPr/>
        </p:nvSpPr>
        <p:spPr bwMode="auto">
          <a:xfrm>
            <a:off x="777240" y="5074920"/>
            <a:ext cx="10698840" cy="396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2000" b="1" i="0">
                <a:solidFill>
                  <a:srgbClr val="19372E"/>
                </a:solidFill>
                <a:latin typeface="Aptos"/>
              </a:rPr>
              <a:t>PROPÓSITO  •  Apoiar cidades mais frescas, resilientes e bem cuidadas.</a:t>
            </a:r>
            <a:endParaRPr lang="pt-BR"/>
          </a:p>
        </p:txBody>
      </p:sp>
      <p:sp>
        <p:nvSpPr>
          <p:cNvPr id="1364600715" name="TextBox 17"/>
          <p:cNvSpPr txBox="1"/>
          <p:nvPr/>
        </p:nvSpPr>
        <p:spPr bwMode="auto"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/>
          </a:p>
        </p:txBody>
      </p:sp>
      <p:sp>
        <p:nvSpPr>
          <p:cNvPr id="663275765" name="TextBox 18"/>
          <p:cNvSpPr txBox="1"/>
          <p:nvPr/>
        </p:nvSpPr>
        <p:spPr bwMode="auto"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sz="1000" b="1" i="0">
                <a:solidFill>
                  <a:srgbClr val="69776D"/>
                </a:solidFill>
                <a:latin typeface="Aptos"/>
              </a:rPr>
              <a:t>02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707017" name="TextBox 1"/>
          <p:cNvSpPr txBox="1"/>
          <p:nvPr/>
        </p:nvSpPr>
        <p:spPr bwMode="auto">
          <a:xfrm>
            <a:off x="640080" y="438912"/>
            <a:ext cx="107913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000" b="1" i="0">
                <a:solidFill>
                  <a:srgbClr val="387150"/>
                </a:solidFill>
                <a:latin typeface="Aptos"/>
              </a:rPr>
              <a:t>02 • O DESAFIO</a:t>
            </a:r>
            <a:endParaRPr>
              <a:solidFill>
                <a:srgbClr val="19372E"/>
              </a:solidFill>
            </a:endParaRPr>
          </a:p>
        </p:txBody>
      </p:sp>
      <p:sp>
        <p:nvSpPr>
          <p:cNvPr id="2139919321" name="TextBox 2"/>
          <p:cNvSpPr txBox="1"/>
          <p:nvPr/>
        </p:nvSpPr>
        <p:spPr bwMode="auto">
          <a:xfrm>
            <a:off x="640080" y="822960"/>
            <a:ext cx="11005559" cy="548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A cidade sente o c</a:t>
            </a:r>
            <a:r>
              <a:rPr lang="pt-BR" sz="3000" b="1" i="0">
                <a:solidFill>
                  <a:srgbClr val="19372E"/>
                </a:solidFill>
                <a:latin typeface="Aptos"/>
              </a:rPr>
              <a:t>alo</a:t>
            </a:r>
            <a:r>
              <a:rPr lang="pt-BR" sz="3000" b="1" i="0">
                <a:solidFill>
                  <a:srgbClr val="19372E"/>
                </a:solidFill>
                <a:latin typeface="Aptos"/>
              </a:rPr>
              <a:t>r. A gestão</a:t>
            </a:r>
            <a:r>
              <a:rPr lang="pt-BR" sz="3000" b="1" i="0">
                <a:solidFill>
                  <a:srgbClr val="19372E"/>
                </a:solidFill>
                <a:latin typeface="Aptos"/>
              </a:rPr>
              <a:t> </a:t>
            </a:r>
            <a:r>
              <a:rPr lang="pt-BR" sz="3000" b="1" i="0">
                <a:solidFill>
                  <a:srgbClr val="19372E"/>
                </a:solidFill>
                <a:latin typeface="Aptos"/>
              </a:rPr>
              <a:t>não </a:t>
            </a:r>
            <a:r>
              <a:rPr lang="pt-BR" sz="3000" b="1" i="0">
                <a:solidFill>
                  <a:srgbClr val="19372E"/>
                </a:solidFill>
                <a:latin typeface="Aptos"/>
              </a:rPr>
              <a:t>vê a ár</a:t>
            </a:r>
            <a:r>
              <a:rPr lang="pt-BR" sz="3000" b="1" i="0">
                <a:solidFill>
                  <a:srgbClr val="19372E"/>
                </a:solidFill>
                <a:latin typeface="Aptos"/>
              </a:rPr>
              <a:t>vore</a:t>
            </a:r>
            <a:r>
              <a:rPr lang="pt-BR" sz="3000" b="1" i="0">
                <a:solidFill>
                  <a:schemeClr val="tx1"/>
                </a:solidFill>
                <a:latin typeface="Aptos"/>
              </a:rPr>
              <a:t>.</a:t>
            </a:r>
            <a:endParaRPr lang="pt-BR"/>
          </a:p>
        </p:txBody>
      </p:sp>
      <p:sp>
        <p:nvSpPr>
          <p:cNvPr id="788141067" name="TextBox 3"/>
          <p:cNvSpPr txBox="1"/>
          <p:nvPr/>
        </p:nvSpPr>
        <p:spPr bwMode="auto">
          <a:xfrm>
            <a:off x="658368" y="1536192"/>
            <a:ext cx="10793159" cy="569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400" b="0" i="0" u="none" strike="noStrike" cap="none" spc="0">
                <a:solidFill>
                  <a:srgbClr val="69776D"/>
                </a:solidFill>
                <a:latin typeface="Aptos"/>
                <a:ea typeface="Aptos"/>
                <a:cs typeface="Aptos"/>
              </a:rPr>
              <a:t>Sem dados atualizados, a gestão perde eficiência</a:t>
            </a:r>
            <a:r>
              <a:rPr lang="pt-BR" sz="1400" b="0" i="0">
                <a:solidFill>
                  <a:srgbClr val="69776D"/>
                </a:solidFill>
                <a:latin typeface="Aptos"/>
              </a:rPr>
              <a:t>.</a:t>
            </a:r>
            <a:endParaRPr lang="pt-BR"/>
          </a:p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69776D"/>
                </a:solidFill>
                <a:latin typeface="Aptos"/>
              </a:rPr>
              <a:t>O planejamento da arborização depende de informações confiáveis sobre onde estão as árvores e em que condições se encontram.</a:t>
            </a:r>
            <a:endParaRPr lang="pt-BR" sz="1400" b="0" i="0">
              <a:solidFill>
                <a:srgbClr val="69776D"/>
              </a:solidFill>
              <a:latin typeface="Aptos"/>
            </a:endParaRPr>
          </a:p>
        </p:txBody>
      </p:sp>
      <p:sp>
        <p:nvSpPr>
          <p:cNvPr id="607059843" name="Rounded Rectangle 4"/>
          <p:cNvSpPr/>
          <p:nvPr/>
        </p:nvSpPr>
        <p:spPr bwMode="auto">
          <a:xfrm>
            <a:off x="640080" y="233172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79671062" name="Rectangle 5"/>
          <p:cNvSpPr/>
          <p:nvPr/>
        </p:nvSpPr>
        <p:spPr bwMode="auto">
          <a:xfrm>
            <a:off x="640080" y="2468879"/>
            <a:ext cx="64008" cy="219456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40480643" name="TextBox 6"/>
          <p:cNvSpPr txBox="1"/>
          <p:nvPr/>
        </p:nvSpPr>
        <p:spPr bwMode="auto">
          <a:xfrm>
            <a:off x="841246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Calor urbano</a:t>
            </a:r>
            <a:endParaRPr lang="pt-BR"/>
          </a:p>
        </p:txBody>
      </p:sp>
      <p:sp>
        <p:nvSpPr>
          <p:cNvPr id="1684086656" name="TextBox 7"/>
          <p:cNvSpPr txBox="1"/>
          <p:nvPr/>
        </p:nvSpPr>
        <p:spPr bwMode="auto">
          <a:xfrm>
            <a:off x="841246" y="3017519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Ilhas de calor e falta de sombra afetam o conforto térmico e a qualidade de vida.</a:t>
            </a:r>
            <a:endParaRPr lang="pt-BR"/>
          </a:p>
        </p:txBody>
      </p:sp>
      <p:sp>
        <p:nvSpPr>
          <p:cNvPr id="1783019577" name="Rounded Rectangle 8"/>
          <p:cNvSpPr/>
          <p:nvPr/>
        </p:nvSpPr>
        <p:spPr bwMode="auto">
          <a:xfrm>
            <a:off x="4343400" y="233172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93064465" name="Rectangle 9"/>
          <p:cNvSpPr/>
          <p:nvPr/>
        </p:nvSpPr>
        <p:spPr bwMode="auto">
          <a:xfrm>
            <a:off x="4343400" y="2468879"/>
            <a:ext cx="64008" cy="219456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8422152" name="TextBox 10"/>
          <p:cNvSpPr txBox="1"/>
          <p:nvPr/>
        </p:nvSpPr>
        <p:spPr bwMode="auto">
          <a:xfrm>
            <a:off x="4544568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Informação dispersa</a:t>
            </a:r>
            <a:endParaRPr lang="pt-BR"/>
          </a:p>
        </p:txBody>
      </p:sp>
      <p:sp>
        <p:nvSpPr>
          <p:cNvPr id="897815046" name="TextBox 11"/>
          <p:cNvSpPr txBox="1"/>
          <p:nvPr/>
        </p:nvSpPr>
        <p:spPr bwMode="auto">
          <a:xfrm>
            <a:off x="4544568" y="3017519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Dados incompletos ou desatualizados dificultam a leitura do território.</a:t>
            </a:r>
            <a:endParaRPr lang="pt-BR"/>
          </a:p>
        </p:txBody>
      </p:sp>
      <p:sp>
        <p:nvSpPr>
          <p:cNvPr id="252478431" name="Rounded Rectangle 12"/>
          <p:cNvSpPr/>
          <p:nvPr/>
        </p:nvSpPr>
        <p:spPr bwMode="auto">
          <a:xfrm>
            <a:off x="8046720" y="233172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45435600" name="Rectangle 13"/>
          <p:cNvSpPr/>
          <p:nvPr/>
        </p:nvSpPr>
        <p:spPr bwMode="auto">
          <a:xfrm>
            <a:off x="8046720" y="2468879"/>
            <a:ext cx="64008" cy="219456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46970569" name="TextBox 14"/>
          <p:cNvSpPr txBox="1"/>
          <p:nvPr/>
        </p:nvSpPr>
        <p:spPr bwMode="auto">
          <a:xfrm>
            <a:off x="8247888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Ação reativa</a:t>
            </a:r>
            <a:endParaRPr lang="pt-BR"/>
          </a:p>
        </p:txBody>
      </p:sp>
      <p:sp>
        <p:nvSpPr>
          <p:cNvPr id="250695521" name="TextBox 15"/>
          <p:cNvSpPr txBox="1"/>
          <p:nvPr/>
        </p:nvSpPr>
        <p:spPr bwMode="auto">
          <a:xfrm>
            <a:off x="8247888" y="3017519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Sem diagnóstico, torna-se mais difícil priorizar manutenção, plantio e intervenções.</a:t>
            </a:r>
            <a:endParaRPr lang="pt-BR"/>
          </a:p>
        </p:txBody>
      </p:sp>
      <p:sp>
        <p:nvSpPr>
          <p:cNvPr id="448477125" name="TextBox 16"/>
          <p:cNvSpPr txBox="1"/>
          <p:nvPr/>
        </p:nvSpPr>
        <p:spPr bwMode="auto">
          <a:xfrm>
            <a:off x="777240" y="5257800"/>
            <a:ext cx="10698840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O desafio: transformar observações isoladas em uma visão organizada e acionável da arborização.</a:t>
            </a:r>
            <a:endParaRPr lang="pt-BR"/>
          </a:p>
        </p:txBody>
      </p:sp>
      <p:sp>
        <p:nvSpPr>
          <p:cNvPr id="186694783" name="TextBox 17"/>
          <p:cNvSpPr txBox="1"/>
          <p:nvPr/>
        </p:nvSpPr>
        <p:spPr bwMode="auto">
          <a:xfrm>
            <a:off x="502920" y="6510528"/>
            <a:ext cx="7315559" cy="22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512264388" name="TextBox 18"/>
          <p:cNvSpPr txBox="1"/>
          <p:nvPr/>
        </p:nvSpPr>
        <p:spPr bwMode="auto">
          <a:xfrm>
            <a:off x="11201399" y="6473952"/>
            <a:ext cx="4575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lang="pt-BR" sz="1000" b="1" i="0">
                <a:solidFill>
                  <a:srgbClr val="69776D"/>
                </a:solidFill>
                <a:latin typeface="Aptos"/>
              </a:rPr>
              <a:t>03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847264" name="TextBox 1"/>
          <p:cNvSpPr txBox="1"/>
          <p:nvPr/>
        </p:nvSpPr>
        <p:spPr bwMode="auto">
          <a:xfrm>
            <a:off x="640080" y="438912"/>
            <a:ext cx="1079712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000" b="1" i="0">
                <a:solidFill>
                  <a:srgbClr val="387150"/>
                </a:solidFill>
                <a:latin typeface="Aptos"/>
              </a:rPr>
              <a:t>03 • POR QUE AGORA</a:t>
            </a:r>
            <a:endParaRPr>
              <a:solidFill>
                <a:srgbClr val="19372E"/>
              </a:solidFill>
            </a:endParaRPr>
          </a:p>
        </p:txBody>
      </p:sp>
      <p:sp>
        <p:nvSpPr>
          <p:cNvPr id="1607152911" name="TextBox 2"/>
          <p:cNvSpPr txBox="1"/>
          <p:nvPr/>
        </p:nvSpPr>
        <p:spPr bwMode="auto">
          <a:xfrm>
            <a:off x="640080" y="822960"/>
            <a:ext cx="11035798" cy="1006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Três forças colocam a arborização no centro da agenda urbana</a:t>
            </a:r>
            <a:endParaRPr lang="pt-BR"/>
          </a:p>
        </p:txBody>
      </p:sp>
      <p:sp>
        <p:nvSpPr>
          <p:cNvPr id="1552479275" name="Rounded Rectangle 4"/>
          <p:cNvSpPr/>
          <p:nvPr/>
        </p:nvSpPr>
        <p:spPr bwMode="auto">
          <a:xfrm>
            <a:off x="640080" y="233172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66644717" name="Rectangle 5"/>
          <p:cNvSpPr/>
          <p:nvPr/>
        </p:nvSpPr>
        <p:spPr bwMode="auto">
          <a:xfrm>
            <a:off x="640080" y="2468878"/>
            <a:ext cx="64008" cy="219456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66843320" name="TextBox 6"/>
          <p:cNvSpPr txBox="1"/>
          <p:nvPr/>
        </p:nvSpPr>
        <p:spPr bwMode="auto">
          <a:xfrm>
            <a:off x="841246" y="2514599"/>
            <a:ext cx="315043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Adaptação climática</a:t>
            </a:r>
            <a:endParaRPr lang="pt-BR"/>
          </a:p>
        </p:txBody>
      </p:sp>
      <p:sp>
        <p:nvSpPr>
          <p:cNvPr id="941462820" name="TextBox 7"/>
          <p:cNvSpPr txBox="1"/>
          <p:nvPr/>
        </p:nvSpPr>
        <p:spPr bwMode="auto">
          <a:xfrm>
            <a:off x="841246" y="3017518"/>
            <a:ext cx="3172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Calor extremo e chuvas intensas deixam de ser evento e viram rotina de planejamento.</a:t>
            </a:r>
            <a:endParaRPr lang="pt-BR"/>
          </a:p>
        </p:txBody>
      </p:sp>
      <p:sp>
        <p:nvSpPr>
          <p:cNvPr id="1380740485" name="Rounded Rectangle 8"/>
          <p:cNvSpPr/>
          <p:nvPr/>
        </p:nvSpPr>
        <p:spPr bwMode="auto">
          <a:xfrm>
            <a:off x="4343400" y="233172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18524097" name="Rectangle 9"/>
          <p:cNvSpPr/>
          <p:nvPr/>
        </p:nvSpPr>
        <p:spPr bwMode="auto">
          <a:xfrm>
            <a:off x="4343400" y="2468878"/>
            <a:ext cx="64008" cy="219456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31972134" name="TextBox 10"/>
          <p:cNvSpPr txBox="1"/>
          <p:nvPr/>
        </p:nvSpPr>
        <p:spPr bwMode="auto">
          <a:xfrm>
            <a:off x="4544568" y="2514599"/>
            <a:ext cx="314611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Dados como infraestrutura</a:t>
            </a:r>
            <a:endParaRPr lang="pt-BR"/>
          </a:p>
        </p:txBody>
      </p:sp>
      <p:sp>
        <p:nvSpPr>
          <p:cNvPr id="1649321581" name="TextBox 11"/>
          <p:cNvSpPr txBox="1"/>
          <p:nvPr/>
        </p:nvSpPr>
        <p:spPr bwMode="auto">
          <a:xfrm>
            <a:off x="4544568" y="3017518"/>
            <a:ext cx="3181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Gestores precisam de base própria, atualizável e comparável, não de levantamentos isolados.</a:t>
            </a:r>
            <a:endParaRPr lang="pt-BR"/>
          </a:p>
        </p:txBody>
      </p:sp>
      <p:sp>
        <p:nvSpPr>
          <p:cNvPr id="1991093077" name="Rounded Rectangle 12"/>
          <p:cNvSpPr/>
          <p:nvPr/>
        </p:nvSpPr>
        <p:spPr bwMode="auto">
          <a:xfrm>
            <a:off x="8046720" y="233172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44202253" name="Rectangle 13"/>
          <p:cNvSpPr/>
          <p:nvPr/>
        </p:nvSpPr>
        <p:spPr bwMode="auto">
          <a:xfrm>
            <a:off x="8046720" y="2468878"/>
            <a:ext cx="64008" cy="219456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60204593" name="TextBox 14"/>
          <p:cNvSpPr txBox="1"/>
          <p:nvPr/>
        </p:nvSpPr>
        <p:spPr bwMode="auto">
          <a:xfrm>
            <a:off x="8247888" y="2514599"/>
            <a:ext cx="314971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Valor urbano mensurável</a:t>
            </a:r>
            <a:endParaRPr lang="pt-BR"/>
          </a:p>
        </p:txBody>
      </p:sp>
      <p:sp>
        <p:nvSpPr>
          <p:cNvPr id="494507955" name="TextBox 15"/>
          <p:cNvSpPr txBox="1"/>
          <p:nvPr/>
        </p:nvSpPr>
        <p:spPr bwMode="auto">
          <a:xfrm>
            <a:off x="8247888" y="3017518"/>
            <a:ext cx="31835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Sombra, conforto e saúde ambiental entram na conta de projetos, licenças e investimentos.</a:t>
            </a:r>
            <a:endParaRPr lang="pt-BR"/>
          </a:p>
        </p:txBody>
      </p:sp>
      <p:sp>
        <p:nvSpPr>
          <p:cNvPr id="29808757" name="TextBox 16"/>
          <p:cNvSpPr txBox="1"/>
          <p:nvPr/>
        </p:nvSpPr>
        <p:spPr bwMode="auto">
          <a:xfrm>
            <a:off x="777240" y="5257800"/>
            <a:ext cx="10701000" cy="609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1700" b="1" i="0" u="none" strike="noStrike" cap="none" spc="0">
                <a:solidFill>
                  <a:srgbClr val="19372E"/>
                </a:solidFill>
                <a:latin typeface="Aptos"/>
                <a:ea typeface="Aptos"/>
                <a:cs typeface="Aptos"/>
              </a:rPr>
              <a:t>O tema</a:t>
            </a:r>
            <a:r>
              <a:rPr lang="pt-BR" sz="1700" b="1" i="0" u="none" strike="noStrike" cap="none" spc="0">
                <a:solidFill>
                  <a:srgbClr val="19372E"/>
                </a:solidFill>
                <a:latin typeface="Aptos"/>
                <a:ea typeface="Aptos"/>
                <a:cs typeface="Aptos"/>
              </a:rPr>
              <a:t> deixou de ser paisagem e passou a ser infraestrutura climática, com prazo, orçamento e cobrança por resultado.</a:t>
            </a:r>
            <a:endParaRPr sz="1700" b="0" i="0">
              <a:solidFill>
                <a:srgbClr val="69776D"/>
              </a:solidFill>
              <a:latin typeface="Aptos"/>
            </a:endParaRPr>
          </a:p>
        </p:txBody>
      </p:sp>
      <p:sp>
        <p:nvSpPr>
          <p:cNvPr id="1415079051" name="TextBox 17"/>
          <p:cNvSpPr txBox="1"/>
          <p:nvPr/>
        </p:nvSpPr>
        <p:spPr bwMode="auto">
          <a:xfrm>
            <a:off x="502920" y="6510528"/>
            <a:ext cx="7315558" cy="2289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98"/>
              </a:spcAft>
              <a:defRPr/>
            </a:pPr>
            <a:r>
              <a:rPr lang="pt-BR"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2144770411" name="TextBox 18"/>
          <p:cNvSpPr txBox="1"/>
          <p:nvPr/>
        </p:nvSpPr>
        <p:spPr bwMode="auto">
          <a:xfrm>
            <a:off x="11201400" y="6473952"/>
            <a:ext cx="457558" cy="2441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98"/>
              </a:spcAft>
              <a:defRPr/>
            </a:pPr>
            <a:r>
              <a:rPr lang="pt-BR" sz="1000" b="1" i="0">
                <a:solidFill>
                  <a:srgbClr val="69776D"/>
                </a:solidFill>
                <a:latin typeface="Aptos"/>
              </a:rPr>
              <a:t>03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681864" name="TextBox 1"/>
          <p:cNvSpPr txBox="1"/>
          <p:nvPr/>
        </p:nvSpPr>
        <p:spPr bwMode="auto">
          <a:xfrm>
            <a:off x="640080" y="438912"/>
            <a:ext cx="107913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000" b="1" i="0">
                <a:solidFill>
                  <a:srgbClr val="36704E"/>
                </a:solidFill>
                <a:latin typeface="Aptos"/>
              </a:rPr>
              <a:t>04 • NOSSA </a:t>
            </a:r>
            <a:r>
              <a:rPr lang="pt-BR" sz="1000" b="1" i="0">
                <a:solidFill>
                  <a:srgbClr val="387150"/>
                </a:solidFill>
                <a:latin typeface="Aptos"/>
              </a:rPr>
              <a:t>SOLUÇÃO</a:t>
            </a:r>
            <a:endParaRPr lang="pt-BR"/>
          </a:p>
        </p:txBody>
      </p:sp>
      <p:sp>
        <p:nvSpPr>
          <p:cNvPr id="1521842179" name="TextBox 2"/>
          <p:cNvSpPr txBox="1"/>
          <p:nvPr/>
        </p:nvSpPr>
        <p:spPr bwMode="auto">
          <a:xfrm>
            <a:off x="640080" y="822960"/>
            <a:ext cx="10973160" cy="548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Do trabalho de campo à decisão</a:t>
            </a:r>
            <a:endParaRPr lang="pt-BR"/>
          </a:p>
        </p:txBody>
      </p:sp>
      <p:sp>
        <p:nvSpPr>
          <p:cNvPr id="1962907091" name="TextBox 3"/>
          <p:cNvSpPr txBox="1"/>
          <p:nvPr/>
        </p:nvSpPr>
        <p:spPr bwMode="auto">
          <a:xfrm>
            <a:off x="658368" y="1536192"/>
            <a:ext cx="10790280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69776D"/>
                </a:solidFill>
                <a:latin typeface="Aptos"/>
              </a:rPr>
              <a:t>Um fluxo integrado para reunir, organizar e comunicar informações sobre árvores urbanas.</a:t>
            </a:r>
            <a:endParaRPr lang="pt-BR"/>
          </a:p>
        </p:txBody>
      </p:sp>
      <p:sp>
        <p:nvSpPr>
          <p:cNvPr id="731716202" name="Oval 4"/>
          <p:cNvSpPr/>
          <p:nvPr/>
        </p:nvSpPr>
        <p:spPr bwMode="auto">
          <a:xfrm>
            <a:off x="795528" y="2331720"/>
            <a:ext cx="685800" cy="685800"/>
          </a:xfrm>
          <a:prstGeom prst="ellipse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65926064" name="TextBox 5"/>
          <p:cNvSpPr txBox="1"/>
          <p:nvPr/>
        </p:nvSpPr>
        <p:spPr bwMode="auto">
          <a:xfrm>
            <a:off x="795528" y="2496312"/>
            <a:ext cx="686160" cy="320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pt-BR" sz="1500" b="1" i="0">
                <a:solidFill>
                  <a:srgbClr val="FFFFFF"/>
                </a:solidFill>
                <a:latin typeface="Aptos"/>
              </a:rPr>
              <a:t>01</a:t>
            </a:r>
            <a:endParaRPr lang="pt-BR"/>
          </a:p>
        </p:txBody>
      </p:sp>
      <p:sp>
        <p:nvSpPr>
          <p:cNvPr id="914295566" name="TextBox 6"/>
          <p:cNvSpPr txBox="1"/>
          <p:nvPr/>
        </p:nvSpPr>
        <p:spPr bwMode="auto">
          <a:xfrm>
            <a:off x="658368" y="3246120"/>
            <a:ext cx="2423519" cy="381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900" b="1" i="0">
                <a:solidFill>
                  <a:srgbClr val="19372E"/>
                </a:solidFill>
                <a:latin typeface="Aptos"/>
              </a:rPr>
              <a:t>Coletar</a:t>
            </a:r>
            <a:endParaRPr lang="pt-BR"/>
          </a:p>
        </p:txBody>
      </p:sp>
      <p:sp>
        <p:nvSpPr>
          <p:cNvPr id="122633656" name="TextBox 7"/>
          <p:cNvSpPr txBox="1"/>
          <p:nvPr/>
        </p:nvSpPr>
        <p:spPr bwMode="auto">
          <a:xfrm>
            <a:off x="658368" y="3703320"/>
            <a:ext cx="2423519" cy="518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2D3A33"/>
                </a:solidFill>
                <a:latin typeface="Aptos"/>
              </a:rPr>
              <a:t>Levantamentos rápidos e vistorias técnicas em campo.</a:t>
            </a:r>
            <a:endParaRPr lang="pt-BR"/>
          </a:p>
        </p:txBody>
      </p:sp>
      <p:cxnSp>
        <p:nvCxnSpPr>
          <p:cNvPr id="1111947308" name="Connector 8"/>
          <p:cNvCxnSpPr/>
          <p:nvPr/>
        </p:nvCxnSpPr>
        <p:spPr bwMode="auto">
          <a:xfrm>
            <a:off x="1572768" y="2670048"/>
            <a:ext cx="1828800" cy="0"/>
          </a:xfrm>
          <a:prstGeom prst="line">
            <a:avLst/>
          </a:prstGeom>
          <a:ln w="38100">
            <a:solidFill>
              <a:srgbClr val="B7D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2515862" name="Oval 9"/>
          <p:cNvSpPr/>
          <p:nvPr/>
        </p:nvSpPr>
        <p:spPr bwMode="auto">
          <a:xfrm>
            <a:off x="3675888" y="2331720"/>
            <a:ext cx="685800" cy="685800"/>
          </a:xfrm>
          <a:prstGeom prst="ellipse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74728306" name="TextBox 10"/>
          <p:cNvSpPr txBox="1"/>
          <p:nvPr/>
        </p:nvSpPr>
        <p:spPr bwMode="auto">
          <a:xfrm>
            <a:off x="3675888" y="2496312"/>
            <a:ext cx="686160" cy="320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pt-BR" sz="1500" b="1" i="0">
                <a:solidFill>
                  <a:srgbClr val="FFFFFF"/>
                </a:solidFill>
                <a:latin typeface="Aptos"/>
              </a:rPr>
              <a:t>02</a:t>
            </a:r>
            <a:endParaRPr lang="pt-BR"/>
          </a:p>
        </p:txBody>
      </p:sp>
      <p:sp>
        <p:nvSpPr>
          <p:cNvPr id="54065842" name="TextBox 11"/>
          <p:cNvSpPr txBox="1"/>
          <p:nvPr/>
        </p:nvSpPr>
        <p:spPr bwMode="auto">
          <a:xfrm>
            <a:off x="3538728" y="3246120"/>
            <a:ext cx="2423519" cy="381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900" b="1" i="0">
                <a:solidFill>
                  <a:srgbClr val="19372E"/>
                </a:solidFill>
                <a:latin typeface="Aptos"/>
              </a:rPr>
              <a:t>Organizar</a:t>
            </a:r>
            <a:endParaRPr lang="pt-BR"/>
          </a:p>
        </p:txBody>
      </p:sp>
      <p:sp>
        <p:nvSpPr>
          <p:cNvPr id="19571819" name="TextBox 12"/>
          <p:cNvSpPr txBox="1"/>
          <p:nvPr/>
        </p:nvSpPr>
        <p:spPr bwMode="auto">
          <a:xfrm>
            <a:off x="3538728" y="3703320"/>
            <a:ext cx="2423519" cy="518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2D3A33"/>
                </a:solidFill>
                <a:latin typeface="Aptos"/>
              </a:rPr>
              <a:t>Dados georreferenciados e registros padronizados.</a:t>
            </a:r>
            <a:endParaRPr lang="pt-BR"/>
          </a:p>
        </p:txBody>
      </p:sp>
      <p:cxnSp>
        <p:nvCxnSpPr>
          <p:cNvPr id="1518883716" name="Connector 13"/>
          <p:cNvCxnSpPr/>
          <p:nvPr/>
        </p:nvCxnSpPr>
        <p:spPr bwMode="auto">
          <a:xfrm>
            <a:off x="4453128" y="2670048"/>
            <a:ext cx="1828800" cy="0"/>
          </a:xfrm>
          <a:prstGeom prst="line">
            <a:avLst/>
          </a:prstGeom>
          <a:ln w="38100">
            <a:solidFill>
              <a:srgbClr val="B7D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698599" name="Oval 14"/>
          <p:cNvSpPr/>
          <p:nvPr/>
        </p:nvSpPr>
        <p:spPr bwMode="auto">
          <a:xfrm>
            <a:off x="6556248" y="2331720"/>
            <a:ext cx="685800" cy="685800"/>
          </a:xfrm>
          <a:prstGeom prst="ellipse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55342659" name="TextBox 15"/>
          <p:cNvSpPr txBox="1"/>
          <p:nvPr/>
        </p:nvSpPr>
        <p:spPr bwMode="auto">
          <a:xfrm>
            <a:off x="6556248" y="2496312"/>
            <a:ext cx="686160" cy="320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pt-BR" sz="1500" b="1" i="0">
                <a:solidFill>
                  <a:srgbClr val="FFFFFF"/>
                </a:solidFill>
                <a:latin typeface="Aptos"/>
              </a:rPr>
              <a:t>03</a:t>
            </a:r>
            <a:endParaRPr lang="pt-BR"/>
          </a:p>
        </p:txBody>
      </p:sp>
      <p:sp>
        <p:nvSpPr>
          <p:cNvPr id="864040332" name="TextBox 16"/>
          <p:cNvSpPr txBox="1"/>
          <p:nvPr/>
        </p:nvSpPr>
        <p:spPr bwMode="auto">
          <a:xfrm>
            <a:off x="6419088" y="3246120"/>
            <a:ext cx="2423519" cy="381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900" b="1" i="0">
                <a:solidFill>
                  <a:srgbClr val="19372E"/>
                </a:solidFill>
                <a:latin typeface="Aptos"/>
              </a:rPr>
              <a:t>Analisar</a:t>
            </a:r>
            <a:endParaRPr lang="pt-BR"/>
          </a:p>
        </p:txBody>
      </p:sp>
      <p:sp>
        <p:nvSpPr>
          <p:cNvPr id="270573719" name="TextBox 17"/>
          <p:cNvSpPr txBox="1"/>
          <p:nvPr/>
        </p:nvSpPr>
        <p:spPr bwMode="auto">
          <a:xfrm>
            <a:off x="6419088" y="3703320"/>
            <a:ext cx="2423519" cy="731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2D3A33"/>
                </a:solidFill>
                <a:latin typeface="Aptos"/>
              </a:rPr>
              <a:t>Cobertura arbórea, potencial de sombra e necessidades identificadas.</a:t>
            </a:r>
            <a:endParaRPr lang="pt-BR"/>
          </a:p>
        </p:txBody>
      </p:sp>
      <p:cxnSp>
        <p:nvCxnSpPr>
          <p:cNvPr id="478237436" name="Connector 18"/>
          <p:cNvCxnSpPr/>
          <p:nvPr/>
        </p:nvCxnSpPr>
        <p:spPr bwMode="auto">
          <a:xfrm>
            <a:off x="7333488" y="2670048"/>
            <a:ext cx="1828800" cy="0"/>
          </a:xfrm>
          <a:prstGeom prst="line">
            <a:avLst/>
          </a:prstGeom>
          <a:ln w="38100">
            <a:solidFill>
              <a:srgbClr val="B7D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6276725" name="Oval 19"/>
          <p:cNvSpPr/>
          <p:nvPr/>
        </p:nvSpPr>
        <p:spPr bwMode="auto">
          <a:xfrm>
            <a:off x="9436608" y="2331720"/>
            <a:ext cx="685800" cy="685800"/>
          </a:xfrm>
          <a:prstGeom prst="ellipse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4462838" name="TextBox 20"/>
          <p:cNvSpPr txBox="1"/>
          <p:nvPr/>
        </p:nvSpPr>
        <p:spPr bwMode="auto">
          <a:xfrm>
            <a:off x="9436608" y="2496312"/>
            <a:ext cx="686160" cy="320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pt-BR" sz="1500" b="1" i="0">
                <a:solidFill>
                  <a:srgbClr val="FFFFFF"/>
                </a:solidFill>
                <a:latin typeface="Aptos"/>
              </a:rPr>
              <a:t>04</a:t>
            </a:r>
            <a:endParaRPr lang="pt-BR"/>
          </a:p>
        </p:txBody>
      </p:sp>
      <p:sp>
        <p:nvSpPr>
          <p:cNvPr id="997701001" name="TextBox 21"/>
          <p:cNvSpPr txBox="1"/>
          <p:nvPr/>
        </p:nvSpPr>
        <p:spPr bwMode="auto">
          <a:xfrm>
            <a:off x="9299448" y="3246120"/>
            <a:ext cx="2423519" cy="381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900" b="1" i="0">
                <a:solidFill>
                  <a:srgbClr val="19372E"/>
                </a:solidFill>
                <a:latin typeface="Aptos"/>
              </a:rPr>
              <a:t>Entregar</a:t>
            </a:r>
            <a:endParaRPr lang="pt-BR"/>
          </a:p>
        </p:txBody>
      </p:sp>
      <p:sp>
        <p:nvSpPr>
          <p:cNvPr id="1245789048" name="TextBox 22"/>
          <p:cNvSpPr txBox="1"/>
          <p:nvPr/>
        </p:nvSpPr>
        <p:spPr bwMode="auto">
          <a:xfrm>
            <a:off x="9299448" y="3703320"/>
            <a:ext cx="2423519" cy="518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2D3A33"/>
                </a:solidFill>
                <a:latin typeface="Aptos"/>
              </a:rPr>
              <a:t>Mapas temáticos e relatórios para apoiar decisões.</a:t>
            </a:r>
            <a:endParaRPr lang="pt-BR"/>
          </a:p>
        </p:txBody>
      </p:sp>
      <p:sp>
        <p:nvSpPr>
          <p:cNvPr id="2141898524" name="TextBox 23"/>
          <p:cNvSpPr txBox="1"/>
          <p:nvPr/>
        </p:nvSpPr>
        <p:spPr bwMode="auto">
          <a:xfrm>
            <a:off x="777240" y="5303520"/>
            <a:ext cx="10607399" cy="3661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800" b="1" i="0">
                <a:solidFill>
                  <a:srgbClr val="36704E"/>
                </a:solidFill>
                <a:latin typeface="Aptos"/>
              </a:rPr>
              <a:t>Resultado: dados dispersos se tornam informação clara, comparável e útil.</a:t>
            </a:r>
            <a:endParaRPr lang="pt-BR"/>
          </a:p>
        </p:txBody>
      </p:sp>
      <p:sp>
        <p:nvSpPr>
          <p:cNvPr id="781341279" name="TextBox 24"/>
          <p:cNvSpPr txBox="1"/>
          <p:nvPr/>
        </p:nvSpPr>
        <p:spPr bwMode="auto">
          <a:xfrm>
            <a:off x="502920" y="6510528"/>
            <a:ext cx="7315559" cy="22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427068004" name="TextBox 25"/>
          <p:cNvSpPr txBox="1"/>
          <p:nvPr/>
        </p:nvSpPr>
        <p:spPr bwMode="auto">
          <a:xfrm>
            <a:off x="11201399" y="6473952"/>
            <a:ext cx="4575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lang="pt-BR" sz="1000" b="1" i="0">
                <a:solidFill>
                  <a:srgbClr val="69776D"/>
                </a:solidFill>
                <a:latin typeface="Aptos"/>
              </a:rPr>
              <a:t>04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577705" name="TextBox 1"/>
          <p:cNvSpPr txBox="1"/>
          <p:nvPr/>
        </p:nvSpPr>
        <p:spPr bwMode="auto">
          <a:xfrm>
            <a:off x="640080" y="438912"/>
            <a:ext cx="1079100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000" b="1" i="0">
                <a:solidFill>
                  <a:srgbClr val="36704E"/>
                </a:solidFill>
                <a:latin typeface="Aptos"/>
              </a:rPr>
              <a:t>05 • SERVIÇOS</a:t>
            </a:r>
            <a:endParaRPr lang="pt-BR"/>
          </a:p>
        </p:txBody>
      </p:sp>
      <p:sp>
        <p:nvSpPr>
          <p:cNvPr id="1410304388" name="TextBox 2"/>
          <p:cNvSpPr txBox="1"/>
          <p:nvPr/>
        </p:nvSpPr>
        <p:spPr bwMode="auto">
          <a:xfrm>
            <a:off x="640080" y="822960"/>
            <a:ext cx="10973160" cy="548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Soluções que acompanham o território</a:t>
            </a:r>
            <a:endParaRPr lang="pt-BR"/>
          </a:p>
        </p:txBody>
      </p:sp>
      <p:sp>
        <p:nvSpPr>
          <p:cNvPr id="676736564" name="TextBox 3"/>
          <p:cNvSpPr txBox="1"/>
          <p:nvPr/>
        </p:nvSpPr>
        <p:spPr bwMode="auto">
          <a:xfrm>
            <a:off x="658368" y="1536192"/>
            <a:ext cx="10790280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69776D"/>
                </a:solidFill>
                <a:latin typeface="Aptos"/>
              </a:rPr>
              <a:t>A oferta pode ser adaptada à escala, ao objetivo e à frequência de atualização de cada cliente.</a:t>
            </a:r>
            <a:endParaRPr lang="pt-BR"/>
          </a:p>
        </p:txBody>
      </p:sp>
      <p:sp>
        <p:nvSpPr>
          <p:cNvPr id="1755423599" name="Rounded Rectangle 4"/>
          <p:cNvSpPr/>
          <p:nvPr/>
        </p:nvSpPr>
        <p:spPr bwMode="auto">
          <a:xfrm>
            <a:off x="640080" y="2240280"/>
            <a:ext cx="352044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9796740" name="Rectangle 5"/>
          <p:cNvSpPr/>
          <p:nvPr/>
        </p:nvSpPr>
        <p:spPr bwMode="auto">
          <a:xfrm>
            <a:off x="640080" y="2377440"/>
            <a:ext cx="64008" cy="205740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87826874" name="TextBox 6"/>
          <p:cNvSpPr txBox="1"/>
          <p:nvPr/>
        </p:nvSpPr>
        <p:spPr bwMode="auto">
          <a:xfrm>
            <a:off x="841246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Mapeamento urbano</a:t>
            </a:r>
            <a:endParaRPr lang="pt-BR"/>
          </a:p>
        </p:txBody>
      </p:sp>
      <p:sp>
        <p:nvSpPr>
          <p:cNvPr id="1996267897" name="TextBox 7"/>
          <p:cNvSpPr txBox="1"/>
          <p:nvPr/>
        </p:nvSpPr>
        <p:spPr bwMode="auto">
          <a:xfrm>
            <a:off x="841246" y="2926080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Localização de árvores, organização geográfica e leitura da distribuição da arborização.</a:t>
            </a:r>
            <a:endParaRPr lang="pt-BR"/>
          </a:p>
        </p:txBody>
      </p:sp>
      <p:sp>
        <p:nvSpPr>
          <p:cNvPr id="1287415945" name="Rounded Rectangle 8"/>
          <p:cNvSpPr/>
          <p:nvPr/>
        </p:nvSpPr>
        <p:spPr bwMode="auto">
          <a:xfrm>
            <a:off x="4343400" y="2240280"/>
            <a:ext cx="352044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50627500" name="Rectangle 9"/>
          <p:cNvSpPr/>
          <p:nvPr/>
        </p:nvSpPr>
        <p:spPr bwMode="auto">
          <a:xfrm>
            <a:off x="4343400" y="2377440"/>
            <a:ext cx="64008" cy="205740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16967402" name="TextBox 10"/>
          <p:cNvSpPr txBox="1"/>
          <p:nvPr/>
        </p:nvSpPr>
        <p:spPr bwMode="auto">
          <a:xfrm>
            <a:off x="4544568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Vistorias e monitoramento</a:t>
            </a:r>
            <a:endParaRPr lang="pt-BR"/>
          </a:p>
        </p:txBody>
      </p:sp>
      <p:sp>
        <p:nvSpPr>
          <p:cNvPr id="1271752522" name="TextBox 11"/>
          <p:cNvSpPr txBox="1"/>
          <p:nvPr/>
        </p:nvSpPr>
        <p:spPr bwMode="auto">
          <a:xfrm>
            <a:off x="4544568" y="2926080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Registros técnicos e acompanhamento periódico das condições dos indivíduos arbóreos.</a:t>
            </a:r>
            <a:endParaRPr lang="pt-BR"/>
          </a:p>
        </p:txBody>
      </p:sp>
      <p:sp>
        <p:nvSpPr>
          <p:cNvPr id="1553052398" name="Rounded Rectangle 12"/>
          <p:cNvSpPr/>
          <p:nvPr/>
        </p:nvSpPr>
        <p:spPr bwMode="auto">
          <a:xfrm>
            <a:off x="8046720" y="2240280"/>
            <a:ext cx="352044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13696930" name="Rectangle 13"/>
          <p:cNvSpPr/>
          <p:nvPr/>
        </p:nvSpPr>
        <p:spPr bwMode="auto">
          <a:xfrm>
            <a:off x="8046720" y="2377440"/>
            <a:ext cx="64008" cy="205740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05032684" name="TextBox 14"/>
          <p:cNvSpPr txBox="1"/>
          <p:nvPr/>
        </p:nvSpPr>
        <p:spPr bwMode="auto">
          <a:xfrm>
            <a:off x="8247888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Mapas e relatórios</a:t>
            </a:r>
            <a:endParaRPr lang="pt-BR"/>
          </a:p>
        </p:txBody>
      </p:sp>
      <p:sp>
        <p:nvSpPr>
          <p:cNvPr id="1808453920" name="TextBox 15"/>
          <p:cNvSpPr txBox="1"/>
          <p:nvPr/>
        </p:nvSpPr>
        <p:spPr bwMode="auto">
          <a:xfrm>
            <a:off x="8247888" y="2926080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Produtos visuais e sínteses gerenciais para apoiar planejamento e priorização.</a:t>
            </a:r>
            <a:endParaRPr lang="pt-BR"/>
          </a:p>
        </p:txBody>
      </p:sp>
      <p:sp>
        <p:nvSpPr>
          <p:cNvPr id="1126515152" name="TextBox 16"/>
          <p:cNvSpPr txBox="1"/>
          <p:nvPr/>
        </p:nvSpPr>
        <p:spPr bwMode="auto">
          <a:xfrm>
            <a:off x="777240" y="5074920"/>
            <a:ext cx="10698840" cy="335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600" b="1" i="0">
                <a:solidFill>
                  <a:srgbClr val="19372E"/>
                </a:solidFill>
                <a:latin typeface="Aptos"/>
              </a:rPr>
              <a:t>Formatos de contratação: diagnósticos pontuais • monitoramento recorrente • estudos por território</a:t>
            </a:r>
            <a:endParaRPr lang="pt-BR"/>
          </a:p>
        </p:txBody>
      </p:sp>
      <p:sp>
        <p:nvSpPr>
          <p:cNvPr id="724633795" name="TextBox 17"/>
          <p:cNvSpPr txBox="1"/>
          <p:nvPr/>
        </p:nvSpPr>
        <p:spPr bwMode="auto"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/>
          </a:p>
        </p:txBody>
      </p:sp>
      <p:sp>
        <p:nvSpPr>
          <p:cNvPr id="49715121" name="TextBox 18"/>
          <p:cNvSpPr txBox="1"/>
          <p:nvPr/>
        </p:nvSpPr>
        <p:spPr bwMode="auto"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sz="1000" b="1" i="0">
                <a:solidFill>
                  <a:srgbClr val="69776D"/>
                </a:solidFill>
                <a:latin typeface="Aptos"/>
              </a:rPr>
              <a:t>05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781307" name="TextBox 1"/>
          <p:cNvSpPr txBox="1"/>
          <p:nvPr/>
        </p:nvSpPr>
        <p:spPr bwMode="auto">
          <a:xfrm>
            <a:off x="640080" y="438912"/>
            <a:ext cx="1079100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000" b="1" i="0">
                <a:solidFill>
                  <a:srgbClr val="36704E"/>
                </a:solidFill>
                <a:latin typeface="Aptos"/>
              </a:rPr>
              <a:t>06 • CLIENTES</a:t>
            </a:r>
            <a:endParaRPr lang="pt-BR"/>
          </a:p>
        </p:txBody>
      </p:sp>
      <p:sp>
        <p:nvSpPr>
          <p:cNvPr id="449024250" name="TextBox 2"/>
          <p:cNvSpPr txBox="1"/>
          <p:nvPr/>
        </p:nvSpPr>
        <p:spPr bwMode="auto">
          <a:xfrm>
            <a:off x="640080" y="822960"/>
            <a:ext cx="10973160" cy="548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Quem pode usar esses dados?</a:t>
            </a:r>
            <a:endParaRPr lang="pt-BR"/>
          </a:p>
        </p:txBody>
      </p:sp>
      <p:sp>
        <p:nvSpPr>
          <p:cNvPr id="619943959" name="TextBox 3"/>
          <p:cNvSpPr txBox="1"/>
          <p:nvPr/>
        </p:nvSpPr>
        <p:spPr bwMode="auto">
          <a:xfrm>
            <a:off x="658368" y="1536192"/>
            <a:ext cx="10790280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69776D"/>
                </a:solidFill>
                <a:latin typeface="Aptos"/>
              </a:rPr>
              <a:t>A Mapeia Verde atende organizações que precisam planejar, cuidar ou avaliar a arborização urbana.</a:t>
            </a:r>
            <a:endParaRPr lang="pt-BR"/>
          </a:p>
        </p:txBody>
      </p:sp>
      <p:sp>
        <p:nvSpPr>
          <p:cNvPr id="2019782391" name="Rounded Rectangle 4"/>
          <p:cNvSpPr/>
          <p:nvPr/>
        </p:nvSpPr>
        <p:spPr bwMode="auto">
          <a:xfrm>
            <a:off x="640080" y="2331720"/>
            <a:ext cx="3520440" cy="242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2866886" name="Rectangle 5"/>
          <p:cNvSpPr/>
          <p:nvPr/>
        </p:nvSpPr>
        <p:spPr bwMode="auto">
          <a:xfrm>
            <a:off x="640080" y="2468879"/>
            <a:ext cx="64008" cy="214884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40000780" name="TextBox 6"/>
          <p:cNvSpPr txBox="1"/>
          <p:nvPr/>
        </p:nvSpPr>
        <p:spPr bwMode="auto">
          <a:xfrm>
            <a:off x="841246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Setor público</a:t>
            </a:r>
            <a:endParaRPr lang="pt-BR"/>
          </a:p>
        </p:txBody>
      </p:sp>
      <p:sp>
        <p:nvSpPr>
          <p:cNvPr id="161570957" name="TextBox 7"/>
          <p:cNvSpPr txBox="1"/>
          <p:nvPr/>
        </p:nvSpPr>
        <p:spPr bwMode="auto">
          <a:xfrm>
            <a:off x="841246" y="3017519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Prefeituras e equipes técnicas envolvidas em planejamento urbano, meio ambiente e manejo arbóreo.</a:t>
            </a:r>
            <a:endParaRPr lang="pt-BR"/>
          </a:p>
        </p:txBody>
      </p:sp>
      <p:sp>
        <p:nvSpPr>
          <p:cNvPr id="1043939813" name="Rounded Rectangle 8"/>
          <p:cNvSpPr/>
          <p:nvPr/>
        </p:nvSpPr>
        <p:spPr bwMode="auto">
          <a:xfrm>
            <a:off x="4343400" y="2331720"/>
            <a:ext cx="3520440" cy="242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94457569" name="Rectangle 9"/>
          <p:cNvSpPr/>
          <p:nvPr/>
        </p:nvSpPr>
        <p:spPr bwMode="auto">
          <a:xfrm>
            <a:off x="4343400" y="2468879"/>
            <a:ext cx="64008" cy="214884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26005295" name="TextBox 10"/>
          <p:cNvSpPr txBox="1"/>
          <p:nvPr/>
        </p:nvSpPr>
        <p:spPr bwMode="auto">
          <a:xfrm>
            <a:off x="4544568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Empresas e organizações</a:t>
            </a:r>
            <a:endParaRPr lang="pt-BR"/>
          </a:p>
        </p:txBody>
      </p:sp>
      <p:sp>
        <p:nvSpPr>
          <p:cNvPr id="1572401133" name="TextBox 11"/>
          <p:cNvSpPr txBox="1"/>
          <p:nvPr/>
        </p:nvSpPr>
        <p:spPr bwMode="auto">
          <a:xfrm>
            <a:off x="4544568" y="3017519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Instituições que precisam compreender o ambiente de suas áreas e apoiar iniciativas ambientais.</a:t>
            </a:r>
            <a:endParaRPr lang="pt-BR"/>
          </a:p>
        </p:txBody>
      </p:sp>
      <p:sp>
        <p:nvSpPr>
          <p:cNvPr id="1784357710" name="Rounded Rectangle 12"/>
          <p:cNvSpPr/>
          <p:nvPr/>
        </p:nvSpPr>
        <p:spPr bwMode="auto">
          <a:xfrm>
            <a:off x="8046720" y="2331720"/>
            <a:ext cx="3520440" cy="242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99719827" name="Rectangle 13"/>
          <p:cNvSpPr/>
          <p:nvPr/>
        </p:nvSpPr>
        <p:spPr bwMode="auto">
          <a:xfrm>
            <a:off x="8046720" y="2468879"/>
            <a:ext cx="64008" cy="214884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96674130" name="TextBox 14"/>
          <p:cNvSpPr txBox="1"/>
          <p:nvPr/>
        </p:nvSpPr>
        <p:spPr bwMode="auto">
          <a:xfrm>
            <a:off x="8247888" y="2514599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Consultorias</a:t>
            </a:r>
            <a:endParaRPr lang="pt-BR"/>
          </a:p>
        </p:txBody>
      </p:sp>
      <p:sp>
        <p:nvSpPr>
          <p:cNvPr id="778461418" name="TextBox 15"/>
          <p:cNvSpPr txBox="1"/>
          <p:nvPr/>
        </p:nvSpPr>
        <p:spPr bwMode="auto">
          <a:xfrm>
            <a:off x="8247888" y="3017519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Parceiros técnicos que podem integrar dados de arborização a estudos e projetos urbanos.</a:t>
            </a:r>
            <a:endParaRPr lang="pt-BR"/>
          </a:p>
        </p:txBody>
      </p:sp>
      <p:sp>
        <p:nvSpPr>
          <p:cNvPr id="2094414768" name="TextBox 16"/>
          <p:cNvSpPr txBox="1"/>
          <p:nvPr/>
        </p:nvSpPr>
        <p:spPr bwMode="auto">
          <a:xfrm>
            <a:off x="777240" y="5257800"/>
            <a:ext cx="10698840" cy="3661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800" b="1" i="0">
                <a:solidFill>
                  <a:srgbClr val="19372E"/>
                </a:solidFill>
                <a:latin typeface="Aptos"/>
              </a:rPr>
              <a:t>Valor central: informação confiável para decisões mais bem fundamentadas.</a:t>
            </a:r>
            <a:endParaRPr lang="pt-BR"/>
          </a:p>
        </p:txBody>
      </p:sp>
      <p:sp>
        <p:nvSpPr>
          <p:cNvPr id="1839743684" name="TextBox 17"/>
          <p:cNvSpPr txBox="1"/>
          <p:nvPr/>
        </p:nvSpPr>
        <p:spPr bwMode="auto">
          <a:xfrm>
            <a:off x="502920" y="6510528"/>
            <a:ext cx="7315559" cy="22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1929442665" name="TextBox 18"/>
          <p:cNvSpPr txBox="1"/>
          <p:nvPr/>
        </p:nvSpPr>
        <p:spPr bwMode="auto">
          <a:xfrm>
            <a:off x="11201399" y="6473952"/>
            <a:ext cx="4575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lang="pt-BR" sz="1000" b="1" i="0">
                <a:solidFill>
                  <a:srgbClr val="69776D"/>
                </a:solidFill>
                <a:latin typeface="Aptos"/>
              </a:rPr>
              <a:t>06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642542" name="TextBox 1"/>
          <p:cNvSpPr txBox="1"/>
          <p:nvPr/>
        </p:nvSpPr>
        <p:spPr bwMode="auto">
          <a:xfrm>
            <a:off x="640080" y="438912"/>
            <a:ext cx="1079100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000" b="1" i="0">
                <a:solidFill>
                  <a:srgbClr val="36704E"/>
                </a:solidFill>
                <a:latin typeface="Aptos"/>
              </a:rPr>
              <a:t>07 • MODELO DE NEGÓCIO</a:t>
            </a:r>
            <a:endParaRPr lang="pt-BR"/>
          </a:p>
        </p:txBody>
      </p:sp>
      <p:sp>
        <p:nvSpPr>
          <p:cNvPr id="718542076" name="TextBox 2"/>
          <p:cNvSpPr txBox="1"/>
          <p:nvPr/>
        </p:nvSpPr>
        <p:spPr bwMode="auto">
          <a:xfrm>
            <a:off x="640080" y="822960"/>
            <a:ext cx="10973160" cy="548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Serviços técnicos com potencial de recorrência</a:t>
            </a:r>
            <a:endParaRPr lang="pt-BR"/>
          </a:p>
        </p:txBody>
      </p:sp>
      <p:sp>
        <p:nvSpPr>
          <p:cNvPr id="1282456727" name="TextBox 3"/>
          <p:cNvSpPr txBox="1"/>
          <p:nvPr/>
        </p:nvSpPr>
        <p:spPr bwMode="auto">
          <a:xfrm>
            <a:off x="658368" y="1536192"/>
            <a:ext cx="10790280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69776D"/>
                </a:solidFill>
                <a:latin typeface="Aptos"/>
              </a:rPr>
              <a:t>A receita combina execução em campo, análise especializada e atualização contínua das informações.</a:t>
            </a:r>
            <a:endParaRPr lang="pt-BR"/>
          </a:p>
        </p:txBody>
      </p:sp>
      <p:sp>
        <p:nvSpPr>
          <p:cNvPr id="178303284" name="Rounded Rectangle 4"/>
          <p:cNvSpPr/>
          <p:nvPr/>
        </p:nvSpPr>
        <p:spPr bwMode="auto">
          <a:xfrm>
            <a:off x="640080" y="2286000"/>
            <a:ext cx="352044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999371640" name="Rectangle 5"/>
          <p:cNvSpPr/>
          <p:nvPr/>
        </p:nvSpPr>
        <p:spPr bwMode="auto">
          <a:xfrm>
            <a:off x="640080" y="2423160"/>
            <a:ext cx="64008" cy="205740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01748906" name="TextBox 6"/>
          <p:cNvSpPr txBox="1"/>
          <p:nvPr/>
        </p:nvSpPr>
        <p:spPr bwMode="auto">
          <a:xfrm>
            <a:off x="841246" y="246888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Projetos pontuais</a:t>
            </a:r>
            <a:endParaRPr lang="pt-BR"/>
          </a:p>
        </p:txBody>
      </p:sp>
      <p:sp>
        <p:nvSpPr>
          <p:cNvPr id="725192163" name="TextBox 7"/>
          <p:cNvSpPr txBox="1"/>
          <p:nvPr/>
        </p:nvSpPr>
        <p:spPr bwMode="auto">
          <a:xfrm>
            <a:off x="841246" y="2971800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Contratos para diagnóstico, mapeamento ou estudo de uma área definida.</a:t>
            </a:r>
            <a:endParaRPr lang="pt-BR"/>
          </a:p>
        </p:txBody>
      </p:sp>
      <p:sp>
        <p:nvSpPr>
          <p:cNvPr id="810782016" name="Rounded Rectangle 8"/>
          <p:cNvSpPr/>
          <p:nvPr/>
        </p:nvSpPr>
        <p:spPr bwMode="auto">
          <a:xfrm>
            <a:off x="4343400" y="2286000"/>
            <a:ext cx="352044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45208390" name="Rectangle 9"/>
          <p:cNvSpPr/>
          <p:nvPr/>
        </p:nvSpPr>
        <p:spPr bwMode="auto">
          <a:xfrm>
            <a:off x="4343400" y="2423160"/>
            <a:ext cx="64008" cy="205740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86231036" name="TextBox 10"/>
          <p:cNvSpPr txBox="1"/>
          <p:nvPr/>
        </p:nvSpPr>
        <p:spPr bwMode="auto">
          <a:xfrm>
            <a:off x="4544568" y="246888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Monitoramento recorrente</a:t>
            </a:r>
            <a:endParaRPr lang="pt-BR"/>
          </a:p>
        </p:txBody>
      </p:sp>
      <p:sp>
        <p:nvSpPr>
          <p:cNvPr id="1900372235" name="TextBox 11"/>
          <p:cNvSpPr txBox="1"/>
          <p:nvPr/>
        </p:nvSpPr>
        <p:spPr bwMode="auto">
          <a:xfrm>
            <a:off x="4544568" y="2971800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Acompanhamentos e atualizações periódicas para clientes com necessidade contínua.</a:t>
            </a:r>
            <a:endParaRPr lang="pt-BR"/>
          </a:p>
        </p:txBody>
      </p:sp>
      <p:sp>
        <p:nvSpPr>
          <p:cNvPr id="1069094533" name="Rounded Rectangle 12"/>
          <p:cNvSpPr/>
          <p:nvPr/>
        </p:nvSpPr>
        <p:spPr bwMode="auto">
          <a:xfrm>
            <a:off x="8046720" y="2286000"/>
            <a:ext cx="3520440" cy="233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65284289" name="Rectangle 13"/>
          <p:cNvSpPr/>
          <p:nvPr/>
        </p:nvSpPr>
        <p:spPr bwMode="auto">
          <a:xfrm>
            <a:off x="8046720" y="2423160"/>
            <a:ext cx="64008" cy="205740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40371272" name="TextBox 14"/>
          <p:cNvSpPr txBox="1"/>
          <p:nvPr/>
        </p:nvSpPr>
        <p:spPr bwMode="auto">
          <a:xfrm>
            <a:off x="8247888" y="246888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Análises especializadas</a:t>
            </a:r>
            <a:endParaRPr lang="pt-BR"/>
          </a:p>
        </p:txBody>
      </p:sp>
      <p:sp>
        <p:nvSpPr>
          <p:cNvPr id="1067205279" name="TextBox 15"/>
          <p:cNvSpPr txBox="1"/>
          <p:nvPr/>
        </p:nvSpPr>
        <p:spPr bwMode="auto">
          <a:xfrm>
            <a:off x="8247888" y="2971800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Pacotes de mapas, relatórios gerenciais e suporte técnico para projetos.</a:t>
            </a:r>
            <a:endParaRPr lang="pt-BR"/>
          </a:p>
        </p:txBody>
      </p:sp>
      <p:sp>
        <p:nvSpPr>
          <p:cNvPr id="297813311" name="TextBox 16"/>
          <p:cNvSpPr txBox="1"/>
          <p:nvPr/>
        </p:nvSpPr>
        <p:spPr bwMode="auto">
          <a:xfrm>
            <a:off x="777240" y="5074920"/>
            <a:ext cx="10698840" cy="335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600" b="1" i="0">
                <a:solidFill>
                  <a:srgbClr val="19372E"/>
                </a:solidFill>
                <a:latin typeface="Aptos"/>
              </a:rPr>
              <a:t>Estratégia: diversificar clientes, desenvolver contratos recorrentes e crescer de forma controlada.</a:t>
            </a:r>
            <a:endParaRPr lang="pt-BR"/>
          </a:p>
        </p:txBody>
      </p:sp>
      <p:sp>
        <p:nvSpPr>
          <p:cNvPr id="1143066473" name="TextBox 17"/>
          <p:cNvSpPr txBox="1"/>
          <p:nvPr/>
        </p:nvSpPr>
        <p:spPr bwMode="auto">
          <a:xfrm>
            <a:off x="502920" y="6510528"/>
            <a:ext cx="7315559" cy="22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453301594" name="TextBox 18"/>
          <p:cNvSpPr txBox="1"/>
          <p:nvPr/>
        </p:nvSpPr>
        <p:spPr bwMode="auto">
          <a:xfrm>
            <a:off x="11201399" y="6473952"/>
            <a:ext cx="4575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lang="pt-BR" sz="1000" b="1" i="0">
                <a:solidFill>
                  <a:srgbClr val="69776D"/>
                </a:solidFill>
                <a:latin typeface="Aptos"/>
              </a:rPr>
              <a:t>07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135123" name="TextBox 1"/>
          <p:cNvSpPr txBox="1"/>
          <p:nvPr/>
        </p:nvSpPr>
        <p:spPr bwMode="auto">
          <a:xfrm>
            <a:off x="640080" y="438912"/>
            <a:ext cx="1079100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000" b="1" i="0">
                <a:solidFill>
                  <a:srgbClr val="36704E"/>
                </a:solidFill>
                <a:latin typeface="Aptos"/>
              </a:rPr>
              <a:t>08 • MARKETING</a:t>
            </a:r>
            <a:endParaRPr lang="pt-BR"/>
          </a:p>
        </p:txBody>
      </p:sp>
      <p:sp>
        <p:nvSpPr>
          <p:cNvPr id="1325965310" name="TextBox 2"/>
          <p:cNvSpPr txBox="1"/>
          <p:nvPr/>
        </p:nvSpPr>
        <p:spPr bwMode="auto">
          <a:xfrm>
            <a:off x="640080" y="822960"/>
            <a:ext cx="10973160" cy="548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Construir confiança com evidências</a:t>
            </a:r>
            <a:endParaRPr lang="pt-BR"/>
          </a:p>
        </p:txBody>
      </p:sp>
      <p:sp>
        <p:nvSpPr>
          <p:cNvPr id="1332154750" name="TextBox 3"/>
          <p:cNvSpPr txBox="1"/>
          <p:nvPr/>
        </p:nvSpPr>
        <p:spPr bwMode="auto">
          <a:xfrm>
            <a:off x="658368" y="1536192"/>
            <a:ext cx="10790280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69776D"/>
                </a:solidFill>
                <a:latin typeface="Aptos"/>
              </a:rPr>
              <a:t>O posicionamento será técnico, acessível e conectado às necessidades locais.</a:t>
            </a:r>
            <a:endParaRPr lang="pt-BR"/>
          </a:p>
        </p:txBody>
      </p:sp>
      <p:sp>
        <p:nvSpPr>
          <p:cNvPr id="1168728272" name="Rounded Rectangle 4"/>
          <p:cNvSpPr/>
          <p:nvPr/>
        </p:nvSpPr>
        <p:spPr bwMode="auto">
          <a:xfrm>
            <a:off x="640080" y="224028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41065831" name="Rectangle 5"/>
          <p:cNvSpPr/>
          <p:nvPr/>
        </p:nvSpPr>
        <p:spPr bwMode="auto">
          <a:xfrm>
            <a:off x="640080" y="2377440"/>
            <a:ext cx="64008" cy="219456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81199323" name="TextBox 6"/>
          <p:cNvSpPr txBox="1"/>
          <p:nvPr/>
        </p:nvSpPr>
        <p:spPr bwMode="auto">
          <a:xfrm>
            <a:off x="841246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Relacionamento institucional</a:t>
            </a:r>
            <a:endParaRPr lang="pt-BR"/>
          </a:p>
        </p:txBody>
      </p:sp>
      <p:sp>
        <p:nvSpPr>
          <p:cNvPr id="1135669175" name="TextBox 7"/>
          <p:cNvSpPr txBox="1"/>
          <p:nvPr/>
        </p:nvSpPr>
        <p:spPr bwMode="auto">
          <a:xfrm>
            <a:off x="841246" y="2926080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Prospecção ativa e contato com órgãos públicos, empresas e consultorias.</a:t>
            </a:r>
            <a:endParaRPr lang="pt-BR"/>
          </a:p>
        </p:txBody>
      </p:sp>
      <p:sp>
        <p:nvSpPr>
          <p:cNvPr id="389641731" name="Rounded Rectangle 8"/>
          <p:cNvSpPr/>
          <p:nvPr/>
        </p:nvSpPr>
        <p:spPr bwMode="auto">
          <a:xfrm>
            <a:off x="4343400" y="224028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44968474" name="Rectangle 9"/>
          <p:cNvSpPr/>
          <p:nvPr/>
        </p:nvSpPr>
        <p:spPr bwMode="auto">
          <a:xfrm>
            <a:off x="4343400" y="2377440"/>
            <a:ext cx="64008" cy="219456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80575234" name="TextBox 10"/>
          <p:cNvSpPr txBox="1"/>
          <p:nvPr/>
        </p:nvSpPr>
        <p:spPr bwMode="auto">
          <a:xfrm>
            <a:off x="4544568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Conteúdo técnico</a:t>
            </a:r>
            <a:endParaRPr lang="pt-BR"/>
          </a:p>
        </p:txBody>
      </p:sp>
      <p:sp>
        <p:nvSpPr>
          <p:cNvPr id="2006819789" name="TextBox 11"/>
          <p:cNvSpPr txBox="1"/>
          <p:nvPr/>
        </p:nvSpPr>
        <p:spPr bwMode="auto">
          <a:xfrm>
            <a:off x="4544568" y="2926080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Materiais claros sobre arborização, conforto térmico e dados ambientais.</a:t>
            </a:r>
            <a:endParaRPr lang="pt-BR"/>
          </a:p>
        </p:txBody>
      </p:sp>
      <p:sp>
        <p:nvSpPr>
          <p:cNvPr id="101832449" name="Rounded Rectangle 12"/>
          <p:cNvSpPr/>
          <p:nvPr/>
        </p:nvSpPr>
        <p:spPr bwMode="auto">
          <a:xfrm>
            <a:off x="8046720" y="224028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86595454" name="Rectangle 13"/>
          <p:cNvSpPr/>
          <p:nvPr/>
        </p:nvSpPr>
        <p:spPr bwMode="auto">
          <a:xfrm>
            <a:off x="8046720" y="2377440"/>
            <a:ext cx="64008" cy="219456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07181838" name="TextBox 14"/>
          <p:cNvSpPr txBox="1"/>
          <p:nvPr/>
        </p:nvSpPr>
        <p:spPr bwMode="auto">
          <a:xfrm>
            <a:off x="8247888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Demonstração de resultados</a:t>
            </a:r>
            <a:endParaRPr lang="pt-BR"/>
          </a:p>
        </p:txBody>
      </p:sp>
      <p:sp>
        <p:nvSpPr>
          <p:cNvPr id="2117100874" name="TextBox 15"/>
          <p:cNvSpPr txBox="1"/>
          <p:nvPr/>
        </p:nvSpPr>
        <p:spPr bwMode="auto">
          <a:xfrm>
            <a:off x="8247888" y="2926080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Apresentações e exemplos territoriais que mostrem a utilidade dos dados.</a:t>
            </a:r>
            <a:endParaRPr lang="pt-BR"/>
          </a:p>
        </p:txBody>
      </p:sp>
      <p:sp>
        <p:nvSpPr>
          <p:cNvPr id="1812365376" name="TextBox 16"/>
          <p:cNvSpPr txBox="1"/>
          <p:nvPr/>
        </p:nvSpPr>
        <p:spPr bwMode="auto">
          <a:xfrm>
            <a:off x="777240" y="5257800"/>
            <a:ext cx="10698840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Foco geográfico inicial: Rio de Janeiro e região metropolitana.</a:t>
            </a:r>
            <a:endParaRPr lang="pt-BR"/>
          </a:p>
        </p:txBody>
      </p:sp>
      <p:sp>
        <p:nvSpPr>
          <p:cNvPr id="312565141" name="TextBox 17"/>
          <p:cNvSpPr txBox="1"/>
          <p:nvPr/>
        </p:nvSpPr>
        <p:spPr bwMode="auto">
          <a:xfrm>
            <a:off x="502920" y="6510528"/>
            <a:ext cx="7315559" cy="22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349033717" name="TextBox 18"/>
          <p:cNvSpPr txBox="1"/>
          <p:nvPr/>
        </p:nvSpPr>
        <p:spPr bwMode="auto">
          <a:xfrm>
            <a:off x="11201399" y="6473952"/>
            <a:ext cx="4575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lang="pt-BR" sz="1000" b="1" i="0">
                <a:solidFill>
                  <a:srgbClr val="69776D"/>
                </a:solidFill>
                <a:latin typeface="Aptos"/>
              </a:rPr>
              <a:t>08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7E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119657" name="TextBox 1"/>
          <p:cNvSpPr txBox="1"/>
          <p:nvPr/>
        </p:nvSpPr>
        <p:spPr bwMode="auto">
          <a:xfrm>
            <a:off x="640080" y="438912"/>
            <a:ext cx="1079100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000" b="1" i="0">
                <a:solidFill>
                  <a:srgbClr val="36704E"/>
                </a:solidFill>
                <a:latin typeface="Aptos"/>
              </a:rPr>
              <a:t>09 • METAS E CRESCIMENTO</a:t>
            </a:r>
            <a:endParaRPr lang="pt-BR"/>
          </a:p>
        </p:txBody>
      </p:sp>
      <p:sp>
        <p:nvSpPr>
          <p:cNvPr id="970490570" name="TextBox 2"/>
          <p:cNvSpPr txBox="1"/>
          <p:nvPr/>
        </p:nvSpPr>
        <p:spPr bwMode="auto">
          <a:xfrm>
            <a:off x="640080" y="822960"/>
            <a:ext cx="10973160" cy="548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000" b="1" i="0">
                <a:solidFill>
                  <a:srgbClr val="19372E"/>
                </a:solidFill>
                <a:latin typeface="Aptos"/>
              </a:rPr>
              <a:t>Crescer com consistência e previsibilidade</a:t>
            </a:r>
            <a:endParaRPr lang="pt-BR"/>
          </a:p>
        </p:txBody>
      </p:sp>
      <p:sp>
        <p:nvSpPr>
          <p:cNvPr id="1016386003" name="TextBox 3"/>
          <p:cNvSpPr txBox="1"/>
          <p:nvPr/>
        </p:nvSpPr>
        <p:spPr bwMode="auto">
          <a:xfrm>
            <a:off x="658368" y="1536192"/>
            <a:ext cx="10790280" cy="3051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400" b="0" i="0">
                <a:solidFill>
                  <a:srgbClr val="69776D"/>
                </a:solidFill>
                <a:latin typeface="Aptos"/>
              </a:rPr>
              <a:t>As metas financeiras serão acompanhadas por indicadores operacionais e comerciais.</a:t>
            </a:r>
            <a:endParaRPr lang="pt-BR"/>
          </a:p>
        </p:txBody>
      </p:sp>
      <p:sp>
        <p:nvSpPr>
          <p:cNvPr id="1483438518" name="Rounded Rectangle 4"/>
          <p:cNvSpPr/>
          <p:nvPr/>
        </p:nvSpPr>
        <p:spPr bwMode="auto">
          <a:xfrm>
            <a:off x="640080" y="224028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02102049" name="Rectangle 5"/>
          <p:cNvSpPr/>
          <p:nvPr/>
        </p:nvSpPr>
        <p:spPr bwMode="auto">
          <a:xfrm>
            <a:off x="640080" y="2377440"/>
            <a:ext cx="64008" cy="219456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1620678" name="TextBox 6"/>
          <p:cNvSpPr txBox="1"/>
          <p:nvPr/>
        </p:nvSpPr>
        <p:spPr bwMode="auto">
          <a:xfrm>
            <a:off x="841246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Receita recorrente</a:t>
            </a:r>
            <a:endParaRPr lang="pt-BR"/>
          </a:p>
        </p:txBody>
      </p:sp>
      <p:sp>
        <p:nvSpPr>
          <p:cNvPr id="1285418398" name="TextBox 7"/>
          <p:cNvSpPr txBox="1"/>
          <p:nvPr/>
        </p:nvSpPr>
        <p:spPr bwMode="auto">
          <a:xfrm>
            <a:off x="841246" y="2926080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Ampliar gradualmente a carteira de clientes com contratos de monitoramento.</a:t>
            </a:r>
            <a:endParaRPr lang="pt-BR"/>
          </a:p>
        </p:txBody>
      </p:sp>
      <p:sp>
        <p:nvSpPr>
          <p:cNvPr id="1880287005" name="Rounded Rectangle 8"/>
          <p:cNvSpPr/>
          <p:nvPr/>
        </p:nvSpPr>
        <p:spPr bwMode="auto">
          <a:xfrm>
            <a:off x="4343400" y="224028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27880585" name="Rectangle 9"/>
          <p:cNvSpPr/>
          <p:nvPr/>
        </p:nvSpPr>
        <p:spPr bwMode="auto">
          <a:xfrm>
            <a:off x="4343400" y="2377440"/>
            <a:ext cx="64008" cy="2194560"/>
          </a:xfrm>
          <a:prstGeom prst="rect">
            <a:avLst/>
          </a:prstGeom>
          <a:solidFill>
            <a:srgbClr val="D88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997042195" name="TextBox 10"/>
          <p:cNvSpPr txBox="1"/>
          <p:nvPr/>
        </p:nvSpPr>
        <p:spPr bwMode="auto">
          <a:xfrm>
            <a:off x="4544568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Equilíbrio operacional</a:t>
            </a:r>
            <a:endParaRPr lang="pt-BR"/>
          </a:p>
        </p:txBody>
      </p:sp>
      <p:sp>
        <p:nvSpPr>
          <p:cNvPr id="167455994" name="TextBox 11"/>
          <p:cNvSpPr txBox="1"/>
          <p:nvPr/>
        </p:nvSpPr>
        <p:spPr bwMode="auto">
          <a:xfrm>
            <a:off x="4544568" y="2926080"/>
            <a:ext cx="3136752" cy="68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Cobrir os custos de campo, processamento e entrega com uma operação eficiente.</a:t>
            </a:r>
            <a:endParaRPr lang="pt-BR"/>
          </a:p>
        </p:txBody>
      </p:sp>
      <p:sp>
        <p:nvSpPr>
          <p:cNvPr id="959771097" name="Rounded Rectangle 12"/>
          <p:cNvSpPr/>
          <p:nvPr/>
        </p:nvSpPr>
        <p:spPr bwMode="auto">
          <a:xfrm>
            <a:off x="8046720" y="2240280"/>
            <a:ext cx="35204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46601377" name="Rectangle 13"/>
          <p:cNvSpPr/>
          <p:nvPr/>
        </p:nvSpPr>
        <p:spPr bwMode="auto">
          <a:xfrm>
            <a:off x="8046720" y="2377440"/>
            <a:ext cx="64008" cy="2194560"/>
          </a:xfrm>
          <a:prstGeom prst="rect">
            <a:avLst/>
          </a:prstGeom>
          <a:solidFill>
            <a:srgbClr val="367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74038304" name="TextBox 14"/>
          <p:cNvSpPr txBox="1"/>
          <p:nvPr/>
        </p:nvSpPr>
        <p:spPr bwMode="auto">
          <a:xfrm>
            <a:off x="8247888" y="2423160"/>
            <a:ext cx="3136752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Rentabilidade e caixa</a:t>
            </a:r>
            <a:endParaRPr lang="pt-BR"/>
          </a:p>
        </p:txBody>
      </p:sp>
      <p:sp>
        <p:nvSpPr>
          <p:cNvPr id="552703504" name="TextBox 15"/>
          <p:cNvSpPr txBox="1"/>
          <p:nvPr/>
        </p:nvSpPr>
        <p:spPr bwMode="auto">
          <a:xfrm>
            <a:off x="8247888" y="2926080"/>
            <a:ext cx="3136752" cy="488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300" b="0" i="0">
                <a:solidFill>
                  <a:srgbClr val="2D3A33"/>
                </a:solidFill>
                <a:latin typeface="Aptos"/>
              </a:rPr>
              <a:t>Manter margens saudáveis e expandir a capacidade conforme a demanda.</a:t>
            </a:r>
            <a:endParaRPr lang="pt-BR"/>
          </a:p>
        </p:txBody>
      </p:sp>
      <p:sp>
        <p:nvSpPr>
          <p:cNvPr id="1050781479" name="TextBox 16"/>
          <p:cNvSpPr txBox="1"/>
          <p:nvPr/>
        </p:nvSpPr>
        <p:spPr bwMode="auto">
          <a:xfrm>
            <a:off x="777240" y="5257800"/>
            <a:ext cx="10698840" cy="3508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700" b="1" i="0">
                <a:solidFill>
                  <a:srgbClr val="19372E"/>
                </a:solidFill>
                <a:latin typeface="Aptos"/>
              </a:rPr>
              <a:t>Prioridade inicial: validar a oferta, conquistar clientes e medir custos reais por projeto.</a:t>
            </a:r>
            <a:endParaRPr lang="pt-BR"/>
          </a:p>
        </p:txBody>
      </p:sp>
      <p:sp>
        <p:nvSpPr>
          <p:cNvPr id="784238255" name="TextBox 17"/>
          <p:cNvSpPr txBox="1"/>
          <p:nvPr/>
        </p:nvSpPr>
        <p:spPr bwMode="auto">
          <a:xfrm>
            <a:off x="502920" y="6510528"/>
            <a:ext cx="7315559" cy="22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900" b="1" i="0">
                <a:solidFill>
                  <a:srgbClr val="69776D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1658547985" name="TextBox 18"/>
          <p:cNvSpPr txBox="1"/>
          <p:nvPr/>
        </p:nvSpPr>
        <p:spPr bwMode="auto">
          <a:xfrm>
            <a:off x="11201399" y="6473952"/>
            <a:ext cx="4575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lang="pt-BR" sz="1000" b="1" i="0">
                <a:solidFill>
                  <a:srgbClr val="69776D"/>
                </a:solidFill>
                <a:latin typeface="Aptos"/>
              </a:rPr>
              <a:t>09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937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871663" name="TextBox 1"/>
          <p:cNvSpPr txBox="1"/>
          <p:nvPr/>
        </p:nvSpPr>
        <p:spPr bwMode="auto">
          <a:xfrm>
            <a:off x="777240" y="640080"/>
            <a:ext cx="10698840" cy="259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100" b="1" i="0">
                <a:solidFill>
                  <a:srgbClr val="B7D384"/>
                </a:solidFill>
                <a:latin typeface="Aptos"/>
              </a:rPr>
              <a:t>MAPEIA VERDE  •  VISÃO DE FUTURO</a:t>
            </a:r>
            <a:endParaRPr lang="pt-BR"/>
          </a:p>
        </p:txBody>
      </p:sp>
      <p:sp>
        <p:nvSpPr>
          <p:cNvPr id="1417525528" name="TextBox 2"/>
          <p:cNvSpPr txBox="1"/>
          <p:nvPr/>
        </p:nvSpPr>
        <p:spPr bwMode="auto">
          <a:xfrm>
            <a:off x="777240" y="1280160"/>
            <a:ext cx="10241640" cy="11281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3400" b="1" i="0">
                <a:solidFill>
                  <a:srgbClr val="FFFFFF"/>
                </a:solidFill>
                <a:latin typeface="Aptos"/>
              </a:rPr>
              <a:t>Mais dados. Mais sombra.</a:t>
            </a:r>
            <a:br>
              <a:rPr lang="pt-BR" sz="3400" b="1" i="0">
                <a:solidFill>
                  <a:srgbClr val="FFFFFF"/>
                </a:solidFill>
                <a:latin typeface="Aptos"/>
              </a:rPr>
            </a:br>
            <a:r>
              <a:rPr lang="pt-BR" sz="3400" b="1" i="0">
                <a:solidFill>
                  <a:srgbClr val="FFFFFF"/>
                </a:solidFill>
                <a:latin typeface="Aptos"/>
              </a:rPr>
              <a:t>Cidades mais preparadas.</a:t>
            </a:r>
            <a:endParaRPr lang="pt-BR"/>
          </a:p>
        </p:txBody>
      </p:sp>
      <p:sp>
        <p:nvSpPr>
          <p:cNvPr id="248943709" name="TextBox 3"/>
          <p:cNvSpPr txBox="1"/>
          <p:nvPr/>
        </p:nvSpPr>
        <p:spPr bwMode="auto">
          <a:xfrm>
            <a:off x="822960" y="2880360"/>
            <a:ext cx="9601559" cy="701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2000" b="0" i="0">
                <a:solidFill>
                  <a:srgbClr val="DEEBDA"/>
                </a:solidFill>
                <a:latin typeface="Aptos"/>
              </a:rPr>
              <a:t>A Mapeia Verde conecta observação de campo, análise técnica e informação geográfica para apoiar decisões que valorizem a arborização urbana.</a:t>
            </a:r>
            <a:endParaRPr lang="pt-BR"/>
          </a:p>
        </p:txBody>
      </p:sp>
      <p:sp>
        <p:nvSpPr>
          <p:cNvPr id="1689690607" name="TextBox 4"/>
          <p:cNvSpPr txBox="1"/>
          <p:nvPr/>
        </p:nvSpPr>
        <p:spPr bwMode="auto">
          <a:xfrm>
            <a:off x="822960" y="4800600"/>
            <a:ext cx="9601559" cy="3356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1600" b="1" i="0">
                <a:solidFill>
                  <a:srgbClr val="B7D384"/>
                </a:solidFill>
                <a:latin typeface="Aptos"/>
              </a:rPr>
              <a:t>Mapear • Monitorar • Informar • Transformar</a:t>
            </a:r>
            <a:endParaRPr lang="pt-BR"/>
          </a:p>
        </p:txBody>
      </p:sp>
      <p:sp>
        <p:nvSpPr>
          <p:cNvPr id="1126001831" name="Oval 5"/>
          <p:cNvSpPr/>
          <p:nvPr/>
        </p:nvSpPr>
        <p:spPr bwMode="auto">
          <a:xfrm rot="2100000">
            <a:off x="9966960" y="4206240"/>
            <a:ext cx="822960" cy="1892807"/>
          </a:xfrm>
          <a:prstGeom prst="ellipse">
            <a:avLst/>
          </a:prstGeom>
          <a:solidFill>
            <a:srgbClr val="B7D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1362424846" name="Connector 6"/>
          <p:cNvCxnSpPr/>
          <p:nvPr/>
        </p:nvCxnSpPr>
        <p:spPr bwMode="auto">
          <a:xfrm flipV="1">
            <a:off x="10164470" y="4502505"/>
            <a:ext cx="576072" cy="1102767"/>
          </a:xfrm>
          <a:prstGeom prst="line">
            <a:avLst/>
          </a:prstGeom>
          <a:ln w="15240">
            <a:solidFill>
              <a:srgbClr val="193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4826294" name="TextBox 7"/>
          <p:cNvSpPr txBox="1"/>
          <p:nvPr/>
        </p:nvSpPr>
        <p:spPr bwMode="auto">
          <a:xfrm>
            <a:off x="502920" y="6510528"/>
            <a:ext cx="7315559" cy="228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lang="pt-BR" sz="900" b="1" i="0">
                <a:solidFill>
                  <a:srgbClr val="D7E5D7"/>
                </a:solidFill>
                <a:latin typeface="Aptos"/>
              </a:rPr>
              <a:t>MAPEIA VERDE  •  DADOS PARA CIDADES MAIS FRESCAS</a:t>
            </a:r>
            <a:endParaRPr lang="pt-BR"/>
          </a:p>
        </p:txBody>
      </p:sp>
      <p:sp>
        <p:nvSpPr>
          <p:cNvPr id="1679316978" name="TextBox 8"/>
          <p:cNvSpPr txBox="1"/>
          <p:nvPr/>
        </p:nvSpPr>
        <p:spPr bwMode="auto">
          <a:xfrm>
            <a:off x="11201399" y="6473952"/>
            <a:ext cx="457560" cy="244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  <a:defRPr/>
            </a:pPr>
            <a:r>
              <a:rPr lang="pt-BR" sz="1000" b="1" i="0">
                <a:solidFill>
                  <a:srgbClr val="D7E5D7"/>
                </a:solidFill>
                <a:latin typeface="Aptos"/>
              </a:rPr>
              <a:t>10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2026-10-20T05:47:26Z</dcterms:modified>
  <cp:category/>
</cp:coreProperties>
</file>